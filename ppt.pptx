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6" r:id="rId1"/>
  </p:sldMasterIdLst>
  <p:sldIdLst>
    <p:sldId id="269" r:id="rId2"/>
    <p:sldId id="256" r:id="rId3"/>
    <p:sldId id="257" r:id="rId4"/>
    <p:sldId id="258" r:id="rId5"/>
    <p:sldId id="265" r:id="rId6"/>
    <p:sldId id="259" r:id="rId7"/>
    <p:sldId id="260" r:id="rId8"/>
    <p:sldId id="266" r:id="rId9"/>
    <p:sldId id="261" r:id="rId10"/>
    <p:sldId id="263"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6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5033" autoAdjust="0"/>
  </p:normalViewPr>
  <p:slideViewPr>
    <p:cSldViewPr snapToGrid="0">
      <p:cViewPr varScale="1">
        <p:scale>
          <a:sx n="82" d="100"/>
          <a:sy n="82" d="100"/>
        </p:scale>
        <p:origin x="71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255039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456936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49756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6/20/2025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775971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6/20/2025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124298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6/20/2025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68816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6/20/2025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290424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507423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38511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543250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840412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6/20/2025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328060302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CAC0D-42D3-1B7C-3120-B2495CDF25DB}"/>
              </a:ext>
            </a:extLst>
          </p:cNvPr>
          <p:cNvSpPr>
            <a:spLocks noGrp="1"/>
          </p:cNvSpPr>
          <p:nvPr>
            <p:ph type="title"/>
          </p:nvPr>
        </p:nvSpPr>
        <p:spPr>
          <a:xfrm>
            <a:off x="1511166" y="120317"/>
            <a:ext cx="9341634" cy="803708"/>
          </a:xfrm>
        </p:spPr>
        <p:txBody>
          <a:bodyPr>
            <a:normAutofit/>
          </a:bodyPr>
          <a:lstStyle/>
          <a:p>
            <a:r>
              <a:rPr lang="en-US" sz="2000" b="1" dirty="0">
                <a:latin typeface="Times New Roman"/>
                <a:cs typeface="Times New Roman"/>
              </a:rPr>
              <a:t> </a:t>
            </a:r>
            <a:r>
              <a:rPr lang="en-US" sz="2800" b="1" dirty="0">
                <a:latin typeface="Times New Roman"/>
                <a:cs typeface="Times New Roman"/>
              </a:rPr>
              <a:t>AI-Driven Spam Call Detection for Enhanced Security</a:t>
            </a:r>
            <a:endParaRPr lang="en-US" sz="2800" b="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4F095CEF-F7C8-B84C-BBD6-475F6A0DF476}"/>
              </a:ext>
            </a:extLst>
          </p:cNvPr>
          <p:cNvSpPr>
            <a:spLocks noGrp="1"/>
          </p:cNvSpPr>
          <p:nvPr>
            <p:ph type="body" sz="half" idx="2"/>
          </p:nvPr>
        </p:nvSpPr>
        <p:spPr>
          <a:xfrm>
            <a:off x="7353700" y="4908882"/>
            <a:ext cx="3932237" cy="1828801"/>
          </a:xfrm>
        </p:spPr>
        <p:txBody>
          <a:bodyPr>
            <a:normAutofit/>
          </a:bodyPr>
          <a:lstStyle/>
          <a:p>
            <a:pPr algn="just"/>
            <a:r>
              <a:rPr lang="en-US" sz="1800" b="1" dirty="0">
                <a:latin typeface="Times New Roman" pitchFamily="18" charset="0"/>
                <a:cs typeface="Times New Roman" pitchFamily="18" charset="0"/>
              </a:rPr>
              <a:t>PRESENTED BY:</a:t>
            </a:r>
          </a:p>
          <a:p>
            <a:pPr algn="just"/>
            <a:r>
              <a:rPr lang="en-US" sz="1600" dirty="0">
                <a:latin typeface="Times New Roman" pitchFamily="18" charset="0"/>
                <a:cs typeface="Times New Roman" pitchFamily="18" charset="0"/>
              </a:rPr>
              <a:t>D.NIKHITHA(22UP1A7216)</a:t>
            </a:r>
          </a:p>
          <a:p>
            <a:pPr algn="just"/>
            <a:r>
              <a:rPr lang="en-US" sz="1600" dirty="0">
                <a:latin typeface="Times New Roman" pitchFamily="18" charset="0"/>
                <a:cs typeface="Times New Roman" pitchFamily="18" charset="0"/>
              </a:rPr>
              <a:t>V.ISHTA(22UP1A7260)</a:t>
            </a:r>
          </a:p>
          <a:p>
            <a:pPr algn="just"/>
            <a:r>
              <a:rPr lang="en-US" sz="1600" dirty="0">
                <a:latin typeface="Times New Roman" pitchFamily="18" charset="0"/>
                <a:cs typeface="Times New Roman" pitchFamily="18" charset="0"/>
              </a:rPr>
              <a:t>P.SRI SAI MANASWINI(22UP1A7247)</a:t>
            </a:r>
          </a:p>
          <a:p>
            <a:pPr algn="just"/>
            <a:r>
              <a:rPr lang="en-US" sz="1600" dirty="0">
                <a:latin typeface="Times New Roman" pitchFamily="18" charset="0"/>
                <a:cs typeface="Times New Roman" pitchFamily="18" charset="0"/>
              </a:rPr>
              <a:t>G.VEENA(23UP5A7202)</a:t>
            </a:r>
            <a:endParaRPr lang="en-US" dirty="0"/>
          </a:p>
        </p:txBody>
      </p:sp>
      <p:pic>
        <p:nvPicPr>
          <p:cNvPr id="20" name="Picture Placeholder 19">
            <a:extLst>
              <a:ext uri="{FF2B5EF4-FFF2-40B4-BE49-F238E27FC236}">
                <a16:creationId xmlns:a16="http://schemas.microsoft.com/office/drawing/2014/main" id="{B3C5C76B-53A9-7B45-7F4E-9AE902DA6319}"/>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4316" r="24316"/>
          <a:stretch>
            <a:fillRect/>
          </a:stretch>
        </p:blipFill>
        <p:spPr>
          <a:xfrm>
            <a:off x="1427584" y="924025"/>
            <a:ext cx="9425215" cy="3984857"/>
          </a:xfrm>
        </p:spPr>
      </p:pic>
    </p:spTree>
    <p:extLst>
      <p:ext uri="{BB962C8B-B14F-4D97-AF65-F5344CB8AC3E}">
        <p14:creationId xmlns:p14="http://schemas.microsoft.com/office/powerpoint/2010/main" val="4126114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94154" y="2722915"/>
            <a:ext cx="7403691" cy="1264143"/>
          </a:xfrm>
        </p:spPr>
        <p:txBody>
          <a:bodyPr>
            <a:normAutofit fontScale="90000"/>
          </a:bodyPr>
          <a:lstStyle/>
          <a:p>
            <a:br>
              <a:rPr lang="en-US" sz="3600" b="1" dirty="0">
                <a:latin typeface="Times New Roman"/>
                <a:cs typeface="Times New Roman"/>
              </a:rPr>
            </a:br>
            <a:br>
              <a:rPr lang="en-US" sz="3600" b="1" dirty="0">
                <a:latin typeface="Times New Roman"/>
                <a:cs typeface="Times New Roman"/>
              </a:rPr>
            </a:br>
            <a:br>
              <a:rPr lang="en-US" sz="3600" b="1" dirty="0">
                <a:latin typeface="Times New Roman"/>
                <a:cs typeface="Times New Roman"/>
              </a:rPr>
            </a:br>
            <a:br>
              <a:rPr lang="en-US" sz="3600" b="1" dirty="0">
                <a:latin typeface="Times New Roman"/>
                <a:cs typeface="Times New Roman"/>
              </a:rPr>
            </a:br>
            <a:br>
              <a:rPr lang="en-US" sz="3600" b="1" dirty="0">
                <a:latin typeface="Times New Roman"/>
                <a:cs typeface="Times New Roman"/>
              </a:rPr>
            </a:br>
            <a:br>
              <a:rPr lang="en-US" sz="3600" b="1" dirty="0">
                <a:latin typeface="Times New Roman"/>
                <a:cs typeface="Times New Roman"/>
              </a:rPr>
            </a:br>
            <a:br>
              <a:rPr lang="en-US" sz="3600" b="1" dirty="0">
                <a:latin typeface="Times New Roman"/>
                <a:cs typeface="Times New Roman"/>
              </a:rPr>
            </a:br>
            <a:br>
              <a:rPr lang="en-US" sz="3600" b="1" dirty="0">
                <a:latin typeface="Times New Roman"/>
                <a:cs typeface="Times New Roman"/>
              </a:rPr>
            </a:br>
            <a:br>
              <a:rPr lang="en-US" sz="3600" b="1" dirty="0">
                <a:latin typeface="Times New Roman"/>
                <a:cs typeface="Times New Roman"/>
              </a:rPr>
            </a:br>
            <a:r>
              <a:rPr lang="en-US" sz="3100" b="1" dirty="0">
                <a:latin typeface="Times New Roman"/>
                <a:cs typeface="Times New Roman"/>
              </a:rPr>
              <a:t>DEPARTMENT OF AI&amp;DS</a:t>
            </a:r>
            <a:br>
              <a:rPr lang="en-US" sz="3600" b="1" dirty="0">
                <a:latin typeface="Times New Roman"/>
                <a:cs typeface="Times New Roman"/>
              </a:rPr>
            </a:br>
            <a:br>
              <a:rPr lang="en-US" sz="3600" b="1" dirty="0">
                <a:latin typeface="Times New Roman"/>
                <a:cs typeface="Times New Roman"/>
              </a:rPr>
            </a:br>
            <a:r>
              <a:rPr lang="en-US" sz="3600" b="1" dirty="0">
                <a:latin typeface="Times New Roman"/>
                <a:cs typeface="Times New Roman"/>
              </a:rPr>
              <a:t>AI-Driven Spam Call Detection for Enhanced Security</a:t>
            </a:r>
            <a:br>
              <a:rPr lang="en-IN" sz="3600" b="1" dirty="0">
                <a:latin typeface="Times New Roman"/>
                <a:cs typeface="Times New Roman"/>
              </a:rPr>
            </a:br>
            <a:r>
              <a:rPr lang="en-US" b="1" dirty="0">
                <a:solidFill>
                  <a:schemeClr val="bg1"/>
                </a:solidFill>
                <a:latin typeface="Times New Roman"/>
                <a:cs typeface="Times New Roman"/>
              </a:rPr>
              <a:t>De</a:t>
            </a:r>
            <a:endParaRPr lang="en-IN" altLang="en-US" dirty="0"/>
          </a:p>
        </p:txBody>
      </p:sp>
      <p:sp>
        <p:nvSpPr>
          <p:cNvPr id="3" name="Subtitle 2"/>
          <p:cNvSpPr>
            <a:spLocks noGrp="1"/>
          </p:cNvSpPr>
          <p:nvPr>
            <p:ph type="subTitle" idx="1"/>
          </p:nvPr>
        </p:nvSpPr>
        <p:spPr>
          <a:xfrm>
            <a:off x="570271" y="4345858"/>
            <a:ext cx="2368872" cy="1886667"/>
          </a:xfrm>
        </p:spPr>
        <p:txBody>
          <a:bodyPr>
            <a:normAutofit/>
          </a:bodyPr>
          <a:lstStyle/>
          <a:p>
            <a:pPr algn="l"/>
            <a:r>
              <a:rPr lang="en-US" sz="1800" dirty="0">
                <a:latin typeface="Times New Roman"/>
                <a:cs typeface="Times New Roman"/>
              </a:rPr>
              <a:t>INTERNAL GUIDE :</a:t>
            </a:r>
          </a:p>
          <a:p>
            <a:pPr algn="l"/>
            <a:r>
              <a:rPr lang="en-US" sz="1800" dirty="0">
                <a:latin typeface="Times New Roman"/>
                <a:cs typeface="Times New Roman"/>
              </a:rPr>
              <a:t>Mrs. A. </a:t>
            </a:r>
            <a:r>
              <a:rPr lang="en-US" sz="1800" dirty="0" err="1">
                <a:latin typeface="Times New Roman"/>
                <a:cs typeface="Times New Roman"/>
              </a:rPr>
              <a:t>Eenaja</a:t>
            </a:r>
            <a:endParaRPr lang="en-US" sz="1800" dirty="0">
              <a:latin typeface="Times New Roman"/>
              <a:cs typeface="Times New Roman"/>
            </a:endParaRPr>
          </a:p>
          <a:p>
            <a:pPr algn="l"/>
            <a:r>
              <a:rPr lang="en-US" sz="1800" dirty="0">
                <a:latin typeface="Times New Roman"/>
                <a:cs typeface="Times New Roman"/>
              </a:rPr>
              <a:t>Assistant professor</a:t>
            </a:r>
          </a:p>
          <a:p>
            <a:pPr algn="l"/>
            <a:r>
              <a:rPr lang="en-US" sz="1800" dirty="0">
                <a:solidFill>
                  <a:schemeClr val="tx1">
                    <a:lumMod val="95000"/>
                    <a:lumOff val="5000"/>
                  </a:schemeClr>
                </a:solidFill>
                <a:latin typeface="Times New Roman"/>
                <a:cs typeface="Times New Roman"/>
              </a:rPr>
              <a:t>Department of  IT</a:t>
            </a:r>
            <a:endParaRPr lang="en-IN" altLang="en-US" sz="1800" dirty="0">
              <a:solidFill>
                <a:schemeClr val="tx1">
                  <a:lumMod val="95000"/>
                  <a:lumOff val="5000"/>
                </a:schemeClr>
              </a:solidFill>
            </a:endParaRPr>
          </a:p>
        </p:txBody>
      </p:sp>
      <p:sp>
        <p:nvSpPr>
          <p:cNvPr id="6" name="TextBox 5">
            <a:extLst>
              <a:ext uri="{FF2B5EF4-FFF2-40B4-BE49-F238E27FC236}">
                <a16:creationId xmlns:a16="http://schemas.microsoft.com/office/drawing/2014/main" id="{642072FE-2CE2-E0EA-E597-C6CF5B469F10}"/>
              </a:ext>
            </a:extLst>
          </p:cNvPr>
          <p:cNvSpPr txBox="1"/>
          <p:nvPr/>
        </p:nvSpPr>
        <p:spPr>
          <a:xfrm rot="10800000" flipV="1">
            <a:off x="7761791" y="3832618"/>
            <a:ext cx="4013768" cy="1631216"/>
          </a:xfrm>
          <a:prstGeom prst="rect">
            <a:avLst/>
          </a:prstGeom>
          <a:noFill/>
        </p:spPr>
        <p:txBody>
          <a:bodyPr wrap="square">
            <a:spAutoFit/>
          </a:bodyPr>
          <a:lstStyle/>
          <a:p>
            <a:endParaRPr lang="en-US" dirty="0">
              <a:latin typeface="Times New Roman" pitchFamily="18" charset="0"/>
              <a:cs typeface="Times New Roman" pitchFamily="18" charset="0"/>
            </a:endParaRPr>
          </a:p>
          <a:p>
            <a:pPr algn="just"/>
            <a:r>
              <a:rPr lang="en-US" sz="1600" b="1" dirty="0">
                <a:latin typeface="Times New Roman" pitchFamily="18" charset="0"/>
                <a:cs typeface="Times New Roman" pitchFamily="18" charset="0"/>
              </a:rPr>
              <a:t>PRESENTED BY:</a:t>
            </a:r>
          </a:p>
          <a:p>
            <a:pPr algn="just"/>
            <a:r>
              <a:rPr lang="en-US" sz="1600" dirty="0">
                <a:latin typeface="Times New Roman" pitchFamily="18" charset="0"/>
                <a:cs typeface="Times New Roman" pitchFamily="18" charset="0"/>
              </a:rPr>
              <a:t>D.NIKHITHA(22UP1A7216)</a:t>
            </a:r>
          </a:p>
          <a:p>
            <a:pPr algn="just"/>
            <a:r>
              <a:rPr lang="en-US" sz="1600" dirty="0">
                <a:latin typeface="Times New Roman" pitchFamily="18" charset="0"/>
                <a:cs typeface="Times New Roman" pitchFamily="18" charset="0"/>
              </a:rPr>
              <a:t>V.ISHTA(22UP1A7260)</a:t>
            </a:r>
          </a:p>
          <a:p>
            <a:pPr algn="just"/>
            <a:r>
              <a:rPr lang="en-US" sz="1600" dirty="0">
                <a:latin typeface="Times New Roman" pitchFamily="18" charset="0"/>
                <a:cs typeface="Times New Roman" pitchFamily="18" charset="0"/>
              </a:rPr>
              <a:t>P.SRI SAI MANASWINI(22UP1A7247)</a:t>
            </a:r>
          </a:p>
          <a:p>
            <a:pPr algn="just"/>
            <a:r>
              <a:rPr lang="en-US" sz="1600" dirty="0">
                <a:latin typeface="Times New Roman" pitchFamily="18" charset="0"/>
                <a:cs typeface="Times New Roman" pitchFamily="18" charset="0"/>
              </a:rPr>
              <a:t>G.VEENA(23UP5A7202</a:t>
            </a:r>
            <a:r>
              <a:rPr lang="en-US" dirty="0">
                <a:latin typeface="Times New Roman" pitchFamily="18" charset="0"/>
                <a:cs typeface="Times New Roman" pitchFamily="18" charset="0"/>
              </a:rPr>
              <a:t>)</a:t>
            </a:r>
          </a:p>
        </p:txBody>
      </p:sp>
      <p:pic>
        <p:nvPicPr>
          <p:cNvPr id="5" name="Picture 4">
            <a:extLst>
              <a:ext uri="{FF2B5EF4-FFF2-40B4-BE49-F238E27FC236}">
                <a16:creationId xmlns:a16="http://schemas.microsoft.com/office/drawing/2014/main" id="{C69903B4-21D5-E682-2AE5-B830804E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271" y="91520"/>
            <a:ext cx="10923639" cy="12641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11580"/>
          </a:xfrm>
          <a:ln>
            <a:noFill/>
          </a:ln>
        </p:spPr>
        <p:txBody>
          <a:bodyPr>
            <a:normAutofit fontScale="90000"/>
          </a:bodyPr>
          <a:lstStyle/>
          <a:p>
            <a:pPr algn="l"/>
            <a:r>
              <a:rPr lang="en-IN" altLang="en-US" dirty="0"/>
              <a:t>ABSTRACT</a:t>
            </a:r>
            <a:br>
              <a:rPr lang="en-IN" altLang="en-US" dirty="0"/>
            </a:br>
            <a:endParaRPr lang="en-IN" altLang="en-US" dirty="0"/>
          </a:p>
        </p:txBody>
      </p:sp>
      <p:sp>
        <p:nvSpPr>
          <p:cNvPr id="3" name="Content Placeholder 2"/>
          <p:cNvSpPr>
            <a:spLocks noGrp="1"/>
          </p:cNvSpPr>
          <p:nvPr>
            <p:ph idx="1"/>
          </p:nvPr>
        </p:nvSpPr>
        <p:spPr>
          <a:xfrm>
            <a:off x="838200" y="1179750"/>
            <a:ext cx="6973110" cy="3403268"/>
          </a:xfrm>
        </p:spPr>
        <p:txBody>
          <a:bodyPr>
            <a:normAutofit/>
          </a:bodyPr>
          <a:lstStyle/>
          <a:p>
            <a:pPr marL="0" indent="0" algn="just">
              <a:buNone/>
            </a:pPr>
            <a:r>
              <a:rPr lang="en-US" altLang="en-US" sz="2000" dirty="0">
                <a:latin typeface="Times New Roman" panose="02020603050405020304" pitchFamily="18" charset="0"/>
                <a:cs typeface="Times New Roman" panose="02020603050405020304" pitchFamily="18" charset="0"/>
              </a:rPr>
              <a:t>Spam call Detection tool aims to address the growing issue of spam calls from fraudsters, telemarketers, and robocalls. An intelligent Spam Call Detection Tool is proposed to analyze phone numbers and classify them as spam or safe. It uses static detection and pattern-based analysis to identify suspicious patterns. The tool can be extended with Machine Learning for real-time caller identification .This tool helps users avoid fraud and disturbances by flagging suspicious calls before answering .Future improvements could include AI-driven spam classification, real-time databases, and automatic call blocking features.</a:t>
            </a:r>
            <a:endParaRPr lang="en-IN" alt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D204A89-40D8-2555-CEB8-D7DE7A785625}"/>
              </a:ext>
            </a:extLst>
          </p:cNvPr>
          <p:cNvPicPr>
            <a:picLocks noChangeAspect="1"/>
          </p:cNvPicPr>
          <p:nvPr/>
        </p:nvPicPr>
        <p:blipFill>
          <a:blip r:embed="rId2"/>
          <a:stretch>
            <a:fillRect/>
          </a:stretch>
        </p:blipFill>
        <p:spPr>
          <a:xfrm>
            <a:off x="8243628" y="1145405"/>
            <a:ext cx="3553296" cy="367685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INTRODUCTION:</a:t>
            </a:r>
          </a:p>
        </p:txBody>
      </p:sp>
      <p:sp>
        <p:nvSpPr>
          <p:cNvPr id="3" name="Content Placeholder 2"/>
          <p:cNvSpPr>
            <a:spLocks noGrp="1"/>
          </p:cNvSpPr>
          <p:nvPr>
            <p:ph idx="1"/>
          </p:nvPr>
        </p:nvSpPr>
        <p:spPr>
          <a:xfrm>
            <a:off x="838201" y="1825625"/>
            <a:ext cx="7208520" cy="4401920"/>
          </a:xfrm>
        </p:spPr>
        <p:txBody>
          <a:bodyPr vert="horz" lIns="91440" tIns="45720" rIns="91440" bIns="45720" rtlCol="0" anchor="t">
            <a:normAutofit/>
          </a:bodyPr>
          <a:lstStyle/>
          <a:p>
            <a:pPr marL="0" indent="0" algn="just">
              <a:buNone/>
            </a:pPr>
            <a:r>
              <a:rPr lang="en-US" sz="2000" dirty="0">
                <a:latin typeface="Times New Roman"/>
                <a:ea typeface="Calibri"/>
                <a:cs typeface="Times New Roman"/>
              </a:rPr>
              <a:t>Spam call detection is a technology used to identify and block unwanted phone calls. These calls often come from telemarketers, scammers, or </a:t>
            </a:r>
            <a:r>
              <a:rPr lang="en-US" sz="2000" dirty="0" err="1">
                <a:latin typeface="Times New Roman"/>
                <a:ea typeface="Calibri"/>
                <a:cs typeface="Times New Roman"/>
              </a:rPr>
              <a:t>robocallers</a:t>
            </a:r>
            <a:r>
              <a:rPr lang="en-US" sz="2000" dirty="0">
                <a:latin typeface="Times New Roman"/>
                <a:ea typeface="Calibri"/>
                <a:cs typeface="Times New Roman"/>
              </a:rPr>
              <a:t> trying to sell products, trick people, or steal personal information .With the rise of mobile phones, spam calls have increased, making it essential to have systems that can detect and prevent them. Spam call detection works by analyzing call patterns, checking caller IDs against spam databases, and using artificial intelligence to identify suspicious calls. Many smartphones, telecom providers, and third-party apps now offer built-in spam protection to help users avoid these unwanted calls. The goal of spam call detection is to reduce disturbances, protect personal information, and prevent fraud, making phone communication safer and more efficient for everyone.</a:t>
            </a:r>
            <a:endParaRPr lang="en-US" dirty="0">
              <a:ea typeface="Calibri"/>
              <a:cs typeface="Calibri"/>
            </a:endParaRPr>
          </a:p>
        </p:txBody>
      </p:sp>
      <p:pic>
        <p:nvPicPr>
          <p:cNvPr id="7" name="Picture 6">
            <a:extLst>
              <a:ext uri="{FF2B5EF4-FFF2-40B4-BE49-F238E27FC236}">
                <a16:creationId xmlns:a16="http://schemas.microsoft.com/office/drawing/2014/main" id="{276AE5FE-B980-253D-E9D9-B5EAD64139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8101" y="1703612"/>
            <a:ext cx="3317542" cy="39092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813" y="120217"/>
            <a:ext cx="9026013" cy="1049823"/>
          </a:xfrm>
        </p:spPr>
        <p:txBody>
          <a:bodyPr/>
          <a:lstStyle/>
          <a:p>
            <a:r>
              <a:rPr lang="en-IN" altLang="en-US"/>
              <a:t>LITERATURE TABLE:</a:t>
            </a:r>
          </a:p>
        </p:txBody>
      </p:sp>
      <p:graphicFrame>
        <p:nvGraphicFramePr>
          <p:cNvPr id="11" name="Content Placeholder 10">
            <a:extLst>
              <a:ext uri="{FF2B5EF4-FFF2-40B4-BE49-F238E27FC236}">
                <a16:creationId xmlns:a16="http://schemas.microsoft.com/office/drawing/2014/main" id="{193CC07E-3039-EF76-08CF-7747C7A24728}"/>
              </a:ext>
            </a:extLst>
          </p:cNvPr>
          <p:cNvGraphicFramePr>
            <a:graphicFrameLocks noGrp="1"/>
          </p:cNvGraphicFramePr>
          <p:nvPr>
            <p:ph idx="1"/>
            <p:extLst>
              <p:ext uri="{D42A27DB-BD31-4B8C-83A1-F6EECF244321}">
                <p14:modId xmlns:p14="http://schemas.microsoft.com/office/powerpoint/2010/main" val="3978653806"/>
              </p:ext>
            </p:extLst>
          </p:nvPr>
        </p:nvGraphicFramePr>
        <p:xfrm>
          <a:off x="481781" y="1056109"/>
          <a:ext cx="11198942" cy="5555349"/>
        </p:xfrm>
        <a:graphic>
          <a:graphicData uri="http://schemas.openxmlformats.org/drawingml/2006/table">
            <a:tbl>
              <a:tblPr firstRow="1" bandRow="1">
                <a:tableStyleId>{5C22544A-7EE6-4342-B048-85BDC9FD1C3A}</a:tableStyleId>
              </a:tblPr>
              <a:tblGrid>
                <a:gridCol w="2000499">
                  <a:extLst>
                    <a:ext uri="{9D8B030D-6E8A-4147-A177-3AD203B41FA5}">
                      <a16:colId xmlns:a16="http://schemas.microsoft.com/office/drawing/2014/main" val="1872208470"/>
                    </a:ext>
                  </a:extLst>
                </a:gridCol>
                <a:gridCol w="1839689">
                  <a:extLst>
                    <a:ext uri="{9D8B030D-6E8A-4147-A177-3AD203B41FA5}">
                      <a16:colId xmlns:a16="http://schemas.microsoft.com/office/drawing/2014/main" val="3474649797"/>
                    </a:ext>
                  </a:extLst>
                </a:gridCol>
                <a:gridCol w="1773129">
                  <a:extLst>
                    <a:ext uri="{9D8B030D-6E8A-4147-A177-3AD203B41FA5}">
                      <a16:colId xmlns:a16="http://schemas.microsoft.com/office/drawing/2014/main" val="2607795176"/>
                    </a:ext>
                  </a:extLst>
                </a:gridCol>
                <a:gridCol w="1906247">
                  <a:extLst>
                    <a:ext uri="{9D8B030D-6E8A-4147-A177-3AD203B41FA5}">
                      <a16:colId xmlns:a16="http://schemas.microsoft.com/office/drawing/2014/main" val="3359547263"/>
                    </a:ext>
                  </a:extLst>
                </a:gridCol>
                <a:gridCol w="1839689">
                  <a:extLst>
                    <a:ext uri="{9D8B030D-6E8A-4147-A177-3AD203B41FA5}">
                      <a16:colId xmlns:a16="http://schemas.microsoft.com/office/drawing/2014/main" val="2095519975"/>
                    </a:ext>
                  </a:extLst>
                </a:gridCol>
                <a:gridCol w="1839689">
                  <a:extLst>
                    <a:ext uri="{9D8B030D-6E8A-4147-A177-3AD203B41FA5}">
                      <a16:colId xmlns:a16="http://schemas.microsoft.com/office/drawing/2014/main" val="2456357807"/>
                    </a:ext>
                  </a:extLst>
                </a:gridCol>
              </a:tblGrid>
              <a:tr h="652474">
                <a:tc>
                  <a:txBody>
                    <a:bodyPr/>
                    <a:lstStyle/>
                    <a:p>
                      <a:pPr>
                        <a:buNone/>
                      </a:pPr>
                      <a:r>
                        <a:rPr lang="en-US" altLang="en-US"/>
                        <a:t>Paper title</a:t>
                      </a:r>
                      <a:endParaRPr lang="en-IN" altLang="en-US"/>
                    </a:p>
                  </a:txBody>
                  <a:tcPr>
                    <a:solidFill>
                      <a:schemeClr val="accent1"/>
                    </a:solidFill>
                  </a:tcPr>
                </a:tc>
                <a:tc>
                  <a:txBody>
                    <a:bodyPr/>
                    <a:lstStyle/>
                    <a:p>
                      <a:pPr>
                        <a:buNone/>
                      </a:pPr>
                      <a:r>
                        <a:rPr lang="en-IN" altLang="en-US"/>
                        <a:t>Paper published year</a:t>
                      </a:r>
                    </a:p>
                  </a:txBody>
                  <a:tcPr/>
                </a:tc>
                <a:tc>
                  <a:txBody>
                    <a:bodyPr/>
                    <a:lstStyle/>
                    <a:p>
                      <a:pPr>
                        <a:buNone/>
                      </a:pPr>
                      <a:r>
                        <a:rPr lang="en-US" altLang="en-US"/>
                        <a:t>Author(s)</a:t>
                      </a:r>
                      <a:endParaRPr lang="en-IN" altLang="en-US"/>
                    </a:p>
                  </a:txBody>
                  <a:tcPr/>
                </a:tc>
                <a:tc>
                  <a:txBody>
                    <a:bodyPr/>
                    <a:lstStyle/>
                    <a:p>
                      <a:pPr>
                        <a:buNone/>
                      </a:pPr>
                      <a:r>
                        <a:rPr lang="en-US" altLang="en-US"/>
                        <a:t>Methodology</a:t>
                      </a:r>
                      <a:endParaRPr lang="en-IN" altLang="en-US"/>
                    </a:p>
                  </a:txBody>
                  <a:tcPr/>
                </a:tc>
                <a:tc>
                  <a:txBody>
                    <a:bodyPr/>
                    <a:lstStyle/>
                    <a:p>
                      <a:pPr>
                        <a:buNone/>
                      </a:pPr>
                      <a:r>
                        <a:rPr lang="en-US" altLang="en-US"/>
                        <a:t>Findings</a:t>
                      </a:r>
                      <a:endParaRPr lang="en-IN" altLang="en-US"/>
                    </a:p>
                  </a:txBody>
                  <a:tcPr/>
                </a:tc>
                <a:tc>
                  <a:txBody>
                    <a:bodyPr/>
                    <a:lstStyle/>
                    <a:p>
                      <a:pPr>
                        <a:buNone/>
                      </a:pPr>
                      <a:r>
                        <a:rPr lang="en-US" altLang="en-US"/>
                        <a:t>L</a:t>
                      </a:r>
                      <a:r>
                        <a:rPr lang="en-IN" altLang="en-US"/>
                        <a:t>imitations</a:t>
                      </a:r>
                    </a:p>
                  </a:txBody>
                  <a:tcPr/>
                </a:tc>
                <a:extLst>
                  <a:ext uri="{0D108BD9-81ED-4DB2-BD59-A6C34878D82A}">
                    <a16:rowId xmlns:a16="http://schemas.microsoft.com/office/drawing/2014/main" val="2696633773"/>
                  </a:ext>
                </a:extLst>
              </a:tr>
              <a:tr h="4902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ltLang="en-US" dirty="0"/>
                        <a:t>AI-powered real-time spam detection</a:t>
                      </a:r>
                    </a:p>
                    <a:p>
                      <a:pPr>
                        <a:buNone/>
                      </a:pPr>
                      <a:endParaRPr lang="en-IN" altLang="en-US" dirty="0"/>
                    </a:p>
                    <a:p>
                      <a:pPr>
                        <a:buNone/>
                      </a:pPr>
                      <a:endParaRPr lang="en-IN" altLang="en-US" dirty="0"/>
                    </a:p>
                    <a:p>
                      <a:pPr>
                        <a:buNone/>
                      </a:pPr>
                      <a:r>
                        <a:rPr lang="en-IN" altLang="en-US" dirty="0"/>
                        <a:t>Machine learning for spam call detection.</a:t>
                      </a:r>
                    </a:p>
                    <a:p>
                      <a:pPr>
                        <a:buNone/>
                      </a:pPr>
                      <a:endParaRPr lang="en-IN" altLang="en-US" dirty="0"/>
                    </a:p>
                    <a:p>
                      <a:pPr>
                        <a:buNone/>
                      </a:pPr>
                      <a:endParaRPr lang="en-IN" altLang="en-US" dirty="0"/>
                    </a:p>
                    <a:p>
                      <a:pPr>
                        <a:buNone/>
                      </a:pPr>
                      <a:endParaRPr lang="en-I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altLang="en-US" dirty="0"/>
                        <a:t>Rule based spam call detection using blacklists.</a:t>
                      </a:r>
                    </a:p>
                    <a:p>
                      <a:pPr>
                        <a:buNone/>
                      </a:pPr>
                      <a:endParaRPr lang="en-IN" altLang="en-US" dirty="0"/>
                    </a:p>
                    <a:p>
                      <a:pPr>
                        <a:buNone/>
                      </a:pPr>
                      <a:endParaRPr lang="en-IN" altLang="en-US" dirty="0"/>
                    </a:p>
                    <a:p>
                      <a:pPr>
                        <a:buNone/>
                      </a:pPr>
                      <a:endParaRPr lang="en-IN" altLang="en-US" dirty="0"/>
                    </a:p>
                  </a:txBody>
                  <a:tcPr/>
                </a:tc>
                <a:tc>
                  <a:txBody>
                    <a:bodyPr/>
                    <a:lstStyle/>
                    <a:p>
                      <a:pPr>
                        <a:buNone/>
                      </a:pPr>
                      <a:r>
                        <a:rPr lang="en-IN" altLang="en-US"/>
                        <a:t>2023</a:t>
                      </a:r>
                    </a:p>
                    <a:p>
                      <a:pPr>
                        <a:buNone/>
                      </a:pPr>
                      <a:endParaRPr lang="en-IN" altLang="en-US"/>
                    </a:p>
                    <a:p>
                      <a:pPr>
                        <a:buNone/>
                      </a:pPr>
                      <a:endParaRPr lang="en-IN" altLang="en-US"/>
                    </a:p>
                    <a:p>
                      <a:pPr>
                        <a:buNone/>
                      </a:pPr>
                      <a:endParaRPr lang="en-IN" altLang="en-US"/>
                    </a:p>
                    <a:p>
                      <a:pPr>
                        <a:buNone/>
                      </a:pPr>
                      <a:endParaRPr lang="en-IN" altLang="en-US"/>
                    </a:p>
                    <a:p>
                      <a:pPr>
                        <a:buNone/>
                      </a:pPr>
                      <a:r>
                        <a:rPr lang="en-IN" altLang="en-US"/>
                        <a:t>2019</a:t>
                      </a:r>
                    </a:p>
                    <a:p>
                      <a:pPr>
                        <a:buNone/>
                      </a:pPr>
                      <a:endParaRPr lang="en-IN" altLang="en-US"/>
                    </a:p>
                    <a:p>
                      <a:pPr>
                        <a:buNone/>
                      </a:pPr>
                      <a:endParaRPr lang="en-IN" altLang="en-US"/>
                    </a:p>
                    <a:p>
                      <a:pPr>
                        <a:buNone/>
                      </a:pPr>
                      <a:endParaRPr lang="en-IN" altLang="en-US"/>
                    </a:p>
                    <a:p>
                      <a:pPr>
                        <a:buNone/>
                      </a:pPr>
                      <a:endParaRPr lang="en-IN" altLang="en-US"/>
                    </a:p>
                    <a:p>
                      <a:pPr>
                        <a:buNone/>
                      </a:pPr>
                      <a:endParaRPr lang="en-IN" altLang="en-US"/>
                    </a:p>
                    <a:p>
                      <a:pPr>
                        <a:buNone/>
                      </a:pPr>
                      <a:r>
                        <a:rPr lang="en-IN" altLang="en-US"/>
                        <a:t>2018</a:t>
                      </a:r>
                    </a:p>
                  </a:txBody>
                  <a:tcPr/>
                </a:tc>
                <a:tc>
                  <a:txBody>
                    <a:bodyPr/>
                    <a:lstStyle/>
                    <a:p>
                      <a:pPr>
                        <a:buNone/>
                      </a:pPr>
                      <a:r>
                        <a:rPr lang="en-IN" altLang="en-US"/>
                        <a:t>Google AI team</a:t>
                      </a:r>
                    </a:p>
                    <a:p>
                      <a:pPr>
                        <a:buNone/>
                      </a:pPr>
                      <a:endParaRPr lang="en-IN" altLang="en-US"/>
                    </a:p>
                    <a:p>
                      <a:pPr>
                        <a:buNone/>
                      </a:pPr>
                      <a:endParaRPr lang="en-IN" altLang="en-US"/>
                    </a:p>
                    <a:p>
                      <a:pPr>
                        <a:buNone/>
                      </a:pPr>
                      <a:endParaRPr lang="en-IN" altLang="en-US"/>
                    </a:p>
                    <a:p>
                      <a:pPr>
                        <a:buNone/>
                      </a:pPr>
                      <a:endParaRPr lang="en-IN" altLang="en-US"/>
                    </a:p>
                    <a:p>
                      <a:pPr>
                        <a:buNone/>
                      </a:pPr>
                      <a:r>
                        <a:rPr lang="en-IN" altLang="en-US"/>
                        <a:t>Lee &amp; Kumar</a:t>
                      </a:r>
                    </a:p>
                    <a:p>
                      <a:pPr>
                        <a:buNone/>
                      </a:pPr>
                      <a:endParaRPr lang="en-IN" altLang="en-US"/>
                    </a:p>
                    <a:p>
                      <a:pPr>
                        <a:buNone/>
                      </a:pPr>
                      <a:endParaRPr lang="en-IN" altLang="en-US"/>
                    </a:p>
                    <a:p>
                      <a:pPr>
                        <a:buNone/>
                      </a:pPr>
                      <a:endParaRPr lang="en-IN" altLang="en-US"/>
                    </a:p>
                    <a:p>
                      <a:pPr>
                        <a:buNone/>
                      </a:pPr>
                      <a:endParaRPr lang="en-IN" altLang="en-US"/>
                    </a:p>
                    <a:p>
                      <a:pPr>
                        <a:buNone/>
                      </a:pPr>
                      <a:endParaRPr lang="en-IN" altLang="en-US"/>
                    </a:p>
                    <a:p>
                      <a:pPr>
                        <a:buNone/>
                      </a:pPr>
                      <a:endParaRPr lang="en-IN" altLang="en-US"/>
                    </a:p>
                    <a:p>
                      <a:pPr marL="0" marR="0" lvl="0" indent="0" algn="l" rtl="0" eaLnBrk="1" fontAlgn="auto" latinLnBrk="0" hangingPunct="1">
                        <a:lnSpc>
                          <a:spcPct val="100000"/>
                        </a:lnSpc>
                        <a:spcBef>
                          <a:spcPts val="0"/>
                        </a:spcBef>
                        <a:spcAft>
                          <a:spcPts val="0"/>
                        </a:spcAft>
                        <a:buClrTx/>
                        <a:buSzTx/>
                        <a:buFontTx/>
                        <a:buNone/>
                      </a:pPr>
                      <a:r>
                        <a:rPr lang="en-IN" altLang="en-US"/>
                        <a:t>Smith (et al)</a:t>
                      </a:r>
                    </a:p>
                    <a:p>
                      <a:pPr>
                        <a:buNone/>
                      </a:pPr>
                      <a:r>
                        <a:rPr lang="en-IN" altLang="en-US"/>
                        <a:t>And others</a:t>
                      </a:r>
                    </a:p>
                  </a:txBody>
                  <a:tcPr/>
                </a:tc>
                <a:tc>
                  <a:txBody>
                    <a:bodyPr/>
                    <a:lstStyle/>
                    <a:p>
                      <a:pPr>
                        <a:buNone/>
                      </a:pPr>
                      <a:r>
                        <a:rPr lang="en-IN" altLang="en-US" dirty="0"/>
                        <a:t>Used neural networks and NLP to </a:t>
                      </a:r>
                      <a:r>
                        <a:rPr lang="en-IN" altLang="en-US" dirty="0" err="1"/>
                        <a:t>analyzes</a:t>
                      </a:r>
                      <a:r>
                        <a:rPr lang="en-IN" altLang="en-US" dirty="0"/>
                        <a:t> voice patterns.</a:t>
                      </a:r>
                    </a:p>
                    <a:p>
                      <a:pPr>
                        <a:buNone/>
                      </a:pPr>
                      <a:endParaRPr lang="en-IN" altLang="en-US" dirty="0"/>
                    </a:p>
                    <a:p>
                      <a:pPr>
                        <a:buNone/>
                      </a:pPr>
                      <a:r>
                        <a:rPr lang="en-IN" altLang="en-US" dirty="0"/>
                        <a:t>Used random forest and SVM for call classification. </a:t>
                      </a:r>
                    </a:p>
                    <a:p>
                      <a:pPr>
                        <a:buNone/>
                      </a:pPr>
                      <a:endParaRPr lang="en-IN" altLang="en-US" dirty="0"/>
                    </a:p>
                    <a:p>
                      <a:pPr>
                        <a:buNone/>
                      </a:pPr>
                      <a:endParaRPr lang="en-IN" altLang="en-US" dirty="0"/>
                    </a:p>
                    <a:p>
                      <a:pPr>
                        <a:buNone/>
                      </a:pPr>
                      <a:r>
                        <a:rPr lang="en-IN" altLang="en-US" dirty="0"/>
                        <a:t>Maintained a static blacklist of known spam </a:t>
                      </a:r>
                    </a:p>
                    <a:p>
                      <a:pPr>
                        <a:buNone/>
                      </a:pPr>
                      <a:r>
                        <a:rPr lang="en-IN" altLang="en-US" dirty="0"/>
                        <a:t>Numbers.</a:t>
                      </a:r>
                    </a:p>
                    <a:p>
                      <a:pPr>
                        <a:buNone/>
                      </a:pPr>
                      <a:endParaRPr lang="en-IN" altLang="en-US" dirty="0"/>
                    </a:p>
                    <a:p>
                      <a:pPr>
                        <a:buNone/>
                      </a:pPr>
                      <a:endParaRPr lang="en-I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ltLang="en-US"/>
                        <a:t>Achieved 96% accuracy with real-time spam call detection.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altLang="en-US"/>
                    </a:p>
                    <a:p>
                      <a:pPr>
                        <a:buNone/>
                      </a:pPr>
                      <a:r>
                        <a:rPr lang="en-IN" altLang="en-US"/>
                        <a:t>Achieved 90% accuracy in predicting spam calls.</a:t>
                      </a:r>
                    </a:p>
                    <a:p>
                      <a:pPr>
                        <a:buNone/>
                      </a:pPr>
                      <a:endParaRPr lang="en-IN" altLang="en-US"/>
                    </a:p>
                    <a:p>
                      <a:pPr>
                        <a:buNone/>
                      </a:pPr>
                      <a:endParaRPr lang="en-IN" altLang="en-US"/>
                    </a:p>
                    <a:p>
                      <a:pPr marL="0" marR="0" lvl="0" indent="0" algn="l" defTabSz="914400" rtl="0" eaLnBrk="1" fontAlgn="auto" latinLnBrk="0" hangingPunct="1">
                        <a:lnSpc>
                          <a:spcPct val="100000"/>
                        </a:lnSpc>
                        <a:spcBef>
                          <a:spcPts val="0"/>
                        </a:spcBef>
                        <a:spcAft>
                          <a:spcPts val="0"/>
                        </a:spcAft>
                        <a:buClrTx/>
                        <a:buSzTx/>
                        <a:buFontTx/>
                        <a:buNone/>
                        <a:tabLst/>
                        <a:defRPr/>
                      </a:pPr>
                      <a:r>
                        <a:rPr lang="en-IN" altLang="en-US"/>
                        <a:t>Detected known spam calls with 85% accuracy.</a:t>
                      </a:r>
                    </a:p>
                    <a:p>
                      <a:pPr>
                        <a:buNone/>
                      </a:pPr>
                      <a:endParaRPr lang="en-IN" altLang="en-US"/>
                    </a:p>
                    <a:p>
                      <a:pPr>
                        <a:buNone/>
                      </a:pPr>
                      <a:endParaRPr lang="en-IN" altLang="en-US"/>
                    </a:p>
                    <a:p>
                      <a:pPr>
                        <a:buNone/>
                      </a:pPr>
                      <a:endParaRPr lang="en-IN"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ltLang="en-US" dirty="0"/>
                        <a:t>Required constant model updates to stay effective.</a:t>
                      </a:r>
                    </a:p>
                    <a:p>
                      <a:pPr>
                        <a:buNone/>
                      </a:pPr>
                      <a:endParaRPr lang="en-IN" altLang="en-US" dirty="0"/>
                    </a:p>
                    <a:p>
                      <a:pPr>
                        <a:buNone/>
                      </a:pPr>
                      <a:r>
                        <a:rPr lang="en-IN" altLang="en-US" dirty="0"/>
                        <a:t>Required large labelled datasets.</a:t>
                      </a:r>
                    </a:p>
                    <a:p>
                      <a:pPr>
                        <a:buNone/>
                      </a:pPr>
                      <a:endParaRPr lang="en-I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altLang="en-US" dirty="0"/>
                        <a:t>Could not detect new spam numbers.</a:t>
                      </a:r>
                    </a:p>
                    <a:p>
                      <a:pPr>
                        <a:buNone/>
                      </a:pPr>
                      <a:endParaRPr lang="en-IN" altLang="en-US" dirty="0"/>
                    </a:p>
                  </a:txBody>
                  <a:tcPr/>
                </a:tc>
                <a:extLst>
                  <a:ext uri="{0D108BD9-81ED-4DB2-BD59-A6C34878D82A}">
                    <a16:rowId xmlns:a16="http://schemas.microsoft.com/office/drawing/2014/main" val="190695396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135" y="365126"/>
            <a:ext cx="11068665" cy="726256"/>
          </a:xfrm>
        </p:spPr>
        <p:txBody>
          <a:bodyPr/>
          <a:lstStyle/>
          <a:p>
            <a:r>
              <a:rPr lang="en-IN" altLang="en-US" dirty="0"/>
              <a:t>EXISTING SYSTEM</a:t>
            </a:r>
          </a:p>
        </p:txBody>
      </p:sp>
      <p:sp>
        <p:nvSpPr>
          <p:cNvPr id="3" name="Content Placeholder 2"/>
          <p:cNvSpPr>
            <a:spLocks noGrp="1"/>
          </p:cNvSpPr>
          <p:nvPr>
            <p:ph idx="1"/>
          </p:nvPr>
        </p:nvSpPr>
        <p:spPr>
          <a:xfrm>
            <a:off x="550606" y="1661652"/>
            <a:ext cx="8410514" cy="4397324"/>
          </a:xfrm>
        </p:spPr>
        <p:txBody>
          <a:bodyPr>
            <a:normAutofit/>
          </a:bodyPr>
          <a:lstStyle/>
          <a:p>
            <a:pPr marL="0" indent="0" algn="just">
              <a:buNone/>
            </a:pPr>
            <a:r>
              <a:rPr lang="en-US" sz="2000" dirty="0">
                <a:latin typeface="Times New Roman" pitchFamily="18" charset="0"/>
                <a:cs typeface="Times New Roman" pitchFamily="18" charset="0"/>
              </a:rPr>
              <a:t>Traditional spam call detection systems use techniques like Rule-Based Filtering, Regular Expression Based Detection, Crowd-sourced Reporting, and Network-Level Blocking. These methods maintain a blacklist of known spam numbers, use fixed patterns, allow user feedback, and block numbers with high spam activity.</a:t>
            </a:r>
          </a:p>
          <a:p>
            <a:endParaRPr lang="en-US" sz="20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Limitations of  Existing Systems:</a:t>
            </a:r>
          </a:p>
          <a:p>
            <a:pPr marL="0" indent="0">
              <a:buNone/>
            </a:pPr>
            <a:r>
              <a:rPr lang="en-US" sz="2000" dirty="0">
                <a:latin typeface="Times New Roman" pitchFamily="18" charset="0"/>
                <a:cs typeface="Times New Roman" pitchFamily="18" charset="0"/>
              </a:rPr>
              <a:t>1)Cannot Detect New or Unknown Spam Numbers</a:t>
            </a:r>
          </a:p>
          <a:p>
            <a:pPr marL="0" indent="0">
              <a:buNone/>
            </a:pPr>
            <a:r>
              <a:rPr lang="en-US" sz="2000" dirty="0">
                <a:latin typeface="Times New Roman" pitchFamily="18" charset="0"/>
                <a:cs typeface="Times New Roman" pitchFamily="18" charset="0"/>
              </a:rPr>
              <a:t>2)High False Positives (Blocking Legitimate Calls)</a:t>
            </a:r>
          </a:p>
          <a:p>
            <a:pPr marL="0" indent="0">
              <a:buNone/>
            </a:pPr>
            <a:r>
              <a:rPr lang="en-US" sz="2000" dirty="0">
                <a:latin typeface="Times New Roman" pitchFamily="18" charset="0"/>
                <a:cs typeface="Times New Roman" pitchFamily="18" charset="0"/>
              </a:rPr>
              <a:t>3) Pattern-Based Systems are Easy to Bypass </a:t>
            </a:r>
          </a:p>
          <a:p>
            <a:pPr marL="0" indent="0">
              <a:buNone/>
            </a:pPr>
            <a:r>
              <a:rPr lang="en-US" sz="2000" dirty="0">
                <a:latin typeface="Times New Roman" pitchFamily="18" charset="0"/>
                <a:cs typeface="Times New Roman" pitchFamily="18" charset="0"/>
              </a:rPr>
              <a:t>4) Crowd sourced Reporting is Unreliable</a:t>
            </a:r>
          </a:p>
          <a:p>
            <a:pPr marL="0" indent="0" algn="just">
              <a:buNone/>
            </a:pPr>
            <a:r>
              <a:rPr lang="en-US" sz="2000" dirty="0">
                <a:latin typeface="Times New Roman" pitchFamily="18" charset="0"/>
                <a:cs typeface="Times New Roman" pitchFamily="18" charset="0"/>
              </a:rPr>
              <a:t>5) Delayed Response to New Spam Trends</a:t>
            </a:r>
          </a:p>
          <a:p>
            <a:pPr marL="3657600" lvl="8" indent="0">
              <a:buNone/>
            </a:pPr>
            <a:endParaRPr lang="en-IN" altLang="en-US" dirty="0"/>
          </a:p>
        </p:txBody>
      </p:sp>
      <p:pic>
        <p:nvPicPr>
          <p:cNvPr id="5" name="Picture 4" descr="India's New Anti-Spam System: How AI And Caller ID Will Block Unwanted  International Calls - Oneindia News">
            <a:extLst>
              <a:ext uri="{FF2B5EF4-FFF2-40B4-BE49-F238E27FC236}">
                <a16:creationId xmlns:a16="http://schemas.microsoft.com/office/drawing/2014/main" id="{52A1A415-098B-6171-A441-9C10CEDF8075}"/>
              </a:ext>
            </a:extLst>
          </p:cNvPr>
          <p:cNvPicPr>
            <a:picLocks noChangeAspect="1"/>
          </p:cNvPicPr>
          <p:nvPr/>
        </p:nvPicPr>
        <p:blipFill>
          <a:blip r:embed="rId2"/>
          <a:stretch>
            <a:fillRect/>
          </a:stretch>
        </p:blipFill>
        <p:spPr>
          <a:xfrm>
            <a:off x="7209322" y="3233057"/>
            <a:ext cx="4572104" cy="32598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781" y="365126"/>
            <a:ext cx="5397909" cy="1080218"/>
          </a:xfrm>
        </p:spPr>
        <p:txBody>
          <a:bodyPr>
            <a:normAutofit/>
          </a:bodyPr>
          <a:lstStyle/>
          <a:p>
            <a:r>
              <a:rPr lang="en-IN" altLang="en-US" dirty="0"/>
              <a:t>PROPOSED SYSTEM</a:t>
            </a:r>
          </a:p>
        </p:txBody>
      </p:sp>
      <p:sp>
        <p:nvSpPr>
          <p:cNvPr id="3" name="Content Placeholder 2"/>
          <p:cNvSpPr>
            <a:spLocks noGrp="1"/>
          </p:cNvSpPr>
          <p:nvPr>
            <p:ph idx="1"/>
          </p:nvPr>
        </p:nvSpPr>
        <p:spPr>
          <a:xfrm>
            <a:off x="213501" y="1264639"/>
            <a:ext cx="11664074" cy="5386532"/>
          </a:xfrm>
        </p:spPr>
        <p:txBody>
          <a:bodyPr vert="horz" lIns="91440" tIns="45720" rIns="91440" bIns="45720" rtlCol="0" anchor="t">
            <a:normAutofit/>
          </a:bodyPr>
          <a:lstStyle/>
          <a:p>
            <a:pPr marL="0" indent="0" algn="just">
              <a:buNone/>
            </a:pPr>
            <a:r>
              <a:rPr lang="en-US" sz="2000" dirty="0">
                <a:latin typeface="Times New Roman"/>
                <a:cs typeface="Times New Roman"/>
              </a:rPr>
              <a:t>The proposed system aims to identify and warn users about spam or fraudulent calls using a phone number database and pattern-matching algorithms. This system enhances user security by analyzing phone numbers and categorizing them as safe, suspicious, or spam based on predefined rules and external databases.</a:t>
            </a:r>
          </a:p>
          <a:p>
            <a:pPr marL="0" indent="0" algn="just">
              <a:buNone/>
            </a:pPr>
            <a:r>
              <a:rPr lang="en-US" sz="2000" dirty="0">
                <a:latin typeface="Times New Roman"/>
                <a:cs typeface="Times New Roman"/>
              </a:rPr>
              <a:t>Dynamic Spam Detection, Machine Learning Integration, Hybrid Approach, User-Defined Spam Reporting with Validation etc.</a:t>
            </a:r>
          </a:p>
          <a:p>
            <a:pPr marL="0" indent="0" algn="just">
              <a:buNone/>
            </a:pPr>
            <a:endParaRPr lang="en-US" sz="2000" dirty="0">
              <a:latin typeface="Times New Roman"/>
              <a:cs typeface="Times New Roman"/>
            </a:endParaRPr>
          </a:p>
          <a:p>
            <a:pPr marL="0" indent="0">
              <a:buNone/>
            </a:pPr>
            <a:r>
              <a:rPr lang="en-US" sz="2600" dirty="0">
                <a:latin typeface="Times New Roman"/>
                <a:cs typeface="Times New Roman"/>
              </a:rPr>
              <a:t>✅ How the Proposed System Works:</a:t>
            </a:r>
          </a:p>
          <a:p>
            <a:pPr marL="0" indent="0">
              <a:buNone/>
            </a:pPr>
            <a:r>
              <a:rPr lang="en-US" sz="2000" dirty="0">
                <a:latin typeface="Times New Roman"/>
                <a:cs typeface="Times New Roman"/>
              </a:rPr>
              <a:t>1️⃣ User Inputs a Phone Number :The user enters a phone number into the system.</a:t>
            </a:r>
          </a:p>
          <a:p>
            <a:pPr marL="0" indent="0">
              <a:buNone/>
            </a:pPr>
            <a:r>
              <a:rPr lang="en-US" sz="2000" dirty="0">
                <a:latin typeface="Times New Roman"/>
                <a:cs typeface="Times New Roman"/>
              </a:rPr>
              <a:t>2️⃣ Database and Pattern Check :The system checks the number against a predefined spam database. It also uses pattern-matching algorithms (Regex) to detect suspicious numbers.</a:t>
            </a:r>
          </a:p>
          <a:p>
            <a:pPr marL="0" indent="0">
              <a:buNone/>
            </a:pPr>
            <a:r>
              <a:rPr lang="en-US" sz="2000" dirty="0">
                <a:latin typeface="Times New Roman"/>
                <a:cs typeface="Times New Roman"/>
              </a:rPr>
              <a:t>3️⃣ Machine Learning (Optional Enhancement):If implemented, AI-based models can analyze call history and behavior to improve spam detection accuracy.</a:t>
            </a:r>
          </a:p>
          <a:p>
            <a:pPr marL="0" indent="0">
              <a:buNone/>
            </a:pPr>
            <a:r>
              <a:rPr lang="en-US" sz="2000" dirty="0">
                <a:latin typeface="Times New Roman"/>
                <a:cs typeface="Times New Roman"/>
              </a:rPr>
              <a:t>4️⃣ Result Display: The system categorizes the number as Safe, Suspicious, or Spam Call. It provides warnings if the number is flagged in known spam reports.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FB6E4-DFA0-2869-E323-9AEED08A2196}"/>
              </a:ext>
            </a:extLst>
          </p:cNvPr>
          <p:cNvSpPr>
            <a:spLocks noGrp="1"/>
          </p:cNvSpPr>
          <p:nvPr>
            <p:ph type="title"/>
          </p:nvPr>
        </p:nvSpPr>
        <p:spPr>
          <a:xfrm>
            <a:off x="0" y="365126"/>
            <a:ext cx="11353800" cy="952046"/>
          </a:xfrm>
        </p:spPr>
        <p:txBody>
          <a:bodyPr/>
          <a:lstStyle/>
          <a:p>
            <a:r>
              <a:rPr lang="en-US" dirty="0"/>
              <a:t> Advantages of the Proposed System</a:t>
            </a:r>
            <a:endParaRPr lang="en-IN" dirty="0"/>
          </a:p>
        </p:txBody>
      </p:sp>
      <p:sp>
        <p:nvSpPr>
          <p:cNvPr id="3" name="Content Placeholder 2">
            <a:extLst>
              <a:ext uri="{FF2B5EF4-FFF2-40B4-BE49-F238E27FC236}">
                <a16:creationId xmlns:a16="http://schemas.microsoft.com/office/drawing/2014/main" id="{B61BD569-9FE7-7303-BB5E-64444170B425}"/>
              </a:ext>
            </a:extLst>
          </p:cNvPr>
          <p:cNvSpPr>
            <a:spLocks noGrp="1"/>
          </p:cNvSpPr>
          <p:nvPr>
            <p:ph idx="1"/>
          </p:nvPr>
        </p:nvSpPr>
        <p:spPr>
          <a:xfrm>
            <a:off x="304800" y="1545771"/>
            <a:ext cx="11049000" cy="4631192"/>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 Real-time Detection: Instantly identifies spam calls before the user picks up.</a:t>
            </a:r>
          </a:p>
          <a:p>
            <a:pPr marL="0" indent="0" algn="just">
              <a:buNone/>
            </a:pPr>
            <a:r>
              <a:rPr lang="en-US" sz="2000" dirty="0">
                <a:latin typeface="Times New Roman" panose="02020603050405020304" pitchFamily="18" charset="0"/>
                <a:cs typeface="Times New Roman" panose="02020603050405020304" pitchFamily="18" charset="0"/>
              </a:rPr>
              <a:t>✔ Pattern-Based Detection: Even if a number is not in the database, it can be flagged based on suspicious patterns.</a:t>
            </a:r>
          </a:p>
          <a:p>
            <a:pPr marL="0" indent="0" algn="just">
              <a:buNone/>
            </a:pPr>
            <a:r>
              <a:rPr lang="en-US" sz="2000" dirty="0">
                <a:latin typeface="Times New Roman" panose="02020603050405020304" pitchFamily="18" charset="0"/>
                <a:cs typeface="Times New Roman" panose="02020603050405020304" pitchFamily="18" charset="0"/>
              </a:rPr>
              <a:t>✔ User-Friendly Interface: Simple and easy-to-use web or mobile UI for checking numbers.</a:t>
            </a:r>
          </a:p>
          <a:p>
            <a:pPr marL="0" indent="0" algn="just">
              <a:buNone/>
            </a:pPr>
            <a:r>
              <a:rPr lang="en-US" sz="2000" dirty="0">
                <a:latin typeface="Times New Roman" panose="02020603050405020304" pitchFamily="18" charset="0"/>
                <a:cs typeface="Times New Roman" panose="02020603050405020304" pitchFamily="18" charset="0"/>
              </a:rPr>
              <a:t>✔ Customizable Database: Can be updated with new spam numbers for better accuracy.</a:t>
            </a:r>
          </a:p>
          <a:p>
            <a:pPr marL="0" indent="0" algn="just">
              <a:buNone/>
            </a:pPr>
            <a:r>
              <a:rPr lang="en-US" sz="2000" dirty="0">
                <a:latin typeface="Times New Roman" panose="02020603050405020304" pitchFamily="18" charset="0"/>
                <a:cs typeface="Times New Roman" panose="02020603050405020304" pitchFamily="18" charset="0"/>
              </a:rPr>
              <a:t>✔ Prevention of Financial Fraud: Helps users avoid scam calls that attempt to steal personal information.</a:t>
            </a:r>
          </a:p>
          <a:p>
            <a:pPr marL="0" indent="0" algn="just">
              <a:buNone/>
            </a:pPr>
            <a:r>
              <a:rPr lang="en-US" sz="2000" dirty="0">
                <a:latin typeface="Times New Roman" panose="02020603050405020304" pitchFamily="18" charset="0"/>
                <a:cs typeface="Times New Roman" panose="02020603050405020304" pitchFamily="18" charset="0"/>
              </a:rPr>
              <a:t>✔ Lightweight and Fast: The system does not require high processing power, making it efficient for all devices.</a:t>
            </a:r>
          </a:p>
          <a:p>
            <a:pPr marL="0" indent="0" algn="just">
              <a:buNone/>
            </a:pPr>
            <a:r>
              <a:rPr lang="en-US" sz="2000" dirty="0">
                <a:latin typeface="Times New Roman" panose="02020603050405020304" pitchFamily="18" charset="0"/>
                <a:cs typeface="Times New Roman" panose="02020603050405020304" pitchFamily="18" charset="0"/>
              </a:rPr>
              <a:t>✔ Integration with APIs (Optional): Can be linked to third-party spam call databases for wider coverage.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131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SOFTWARE REQUIREMENTS</a:t>
            </a:r>
          </a:p>
        </p:txBody>
      </p:sp>
      <p:sp>
        <p:nvSpPr>
          <p:cNvPr id="3" name="Content Placeholder 2"/>
          <p:cNvSpPr>
            <a:spLocks noGrp="1"/>
          </p:cNvSpPr>
          <p:nvPr>
            <p:ph idx="1"/>
          </p:nvPr>
        </p:nvSpPr>
        <p:spPr>
          <a:xfrm>
            <a:off x="1025013" y="1350878"/>
            <a:ext cx="10515600" cy="4691148"/>
          </a:xfrm>
        </p:spPr>
        <p:txBody>
          <a:bodyPr vert="horz" lIns="91440" tIns="45720" rIns="91440" bIns="45720" rtlCol="0" anchor="t">
            <a:normAutofit/>
          </a:bodyPr>
          <a:lstStyle/>
          <a:p>
            <a:pPr marL="63500" indent="0">
              <a:buNone/>
            </a:pPr>
            <a:endParaRPr lang="en-US" sz="2400" dirty="0">
              <a:latin typeface="Times New Roman"/>
              <a:cs typeface="Times New Roman"/>
            </a:endParaRPr>
          </a:p>
          <a:p>
            <a:pPr marL="63500" indent="0">
              <a:buNone/>
            </a:pPr>
            <a:r>
              <a:rPr lang="en-IN" sz="2000" b="1" dirty="0">
                <a:latin typeface="Times New Roman"/>
                <a:ea typeface="+mn-lt"/>
                <a:cs typeface="+mn-lt"/>
              </a:rPr>
              <a:t>1.</a:t>
            </a:r>
            <a:r>
              <a:rPr lang="en-IN" sz="2000" dirty="0">
                <a:latin typeface="Times New Roman"/>
                <a:ea typeface="+mn-lt"/>
                <a:cs typeface="+mn-lt"/>
              </a:rPr>
              <a:t>Operating System: Windows 10/11, macOS, or Linux</a:t>
            </a:r>
          </a:p>
          <a:p>
            <a:pPr marL="63500" indent="0">
              <a:buNone/>
            </a:pPr>
            <a:r>
              <a:rPr lang="en-IN" sz="2000" b="1" dirty="0">
                <a:latin typeface="Times New Roman"/>
                <a:ea typeface="+mn-lt"/>
                <a:cs typeface="+mn-lt"/>
              </a:rPr>
              <a:t>2.</a:t>
            </a:r>
            <a:r>
              <a:rPr lang="en-IN" sz="2000" dirty="0">
                <a:latin typeface="Times New Roman"/>
                <a:ea typeface="+mn-lt"/>
                <a:cs typeface="+mn-lt"/>
              </a:rPr>
              <a:t>Programming Language: Python 3.x </a:t>
            </a:r>
          </a:p>
          <a:p>
            <a:pPr marL="63500" indent="0">
              <a:buNone/>
            </a:pPr>
            <a:r>
              <a:rPr lang="en-IN" sz="2000" b="1" dirty="0">
                <a:latin typeface="Times New Roman"/>
                <a:ea typeface="+mn-lt"/>
                <a:cs typeface="+mn-lt"/>
              </a:rPr>
              <a:t>3.</a:t>
            </a:r>
            <a:r>
              <a:rPr lang="en-IN" sz="2000" dirty="0">
                <a:latin typeface="Times New Roman"/>
                <a:ea typeface="+mn-lt"/>
                <a:cs typeface="+mn-lt"/>
              </a:rPr>
              <a:t> Framework: Flask (for backend development) </a:t>
            </a:r>
          </a:p>
          <a:p>
            <a:pPr marL="63500" indent="0">
              <a:buNone/>
            </a:pPr>
            <a:r>
              <a:rPr lang="en-IN" sz="2000" b="1" dirty="0">
                <a:latin typeface="Times New Roman"/>
                <a:ea typeface="+mn-lt"/>
                <a:cs typeface="+mn-lt"/>
              </a:rPr>
              <a:t>4.</a:t>
            </a:r>
            <a:r>
              <a:rPr lang="en-IN" sz="2000" dirty="0">
                <a:latin typeface="Times New Roman"/>
                <a:ea typeface="+mn-lt"/>
                <a:cs typeface="+mn-lt"/>
              </a:rPr>
              <a:t> IDE/Text Editor: VS Code / PyCharm / Sublime Text </a:t>
            </a:r>
          </a:p>
          <a:p>
            <a:pPr marL="63500" indent="0">
              <a:buNone/>
            </a:pPr>
            <a:r>
              <a:rPr lang="en-IN" sz="2000" b="1" dirty="0">
                <a:latin typeface="Times New Roman"/>
                <a:ea typeface="+mn-lt"/>
                <a:cs typeface="+mn-lt"/>
              </a:rPr>
              <a:t>5.</a:t>
            </a:r>
            <a:r>
              <a:rPr lang="en-IN" sz="2000" dirty="0">
                <a:latin typeface="Times New Roman"/>
                <a:ea typeface="+mn-lt"/>
                <a:cs typeface="+mn-lt"/>
              </a:rPr>
              <a:t>Web Technologies: HTML, CSS (for frontend design) </a:t>
            </a:r>
          </a:p>
          <a:p>
            <a:pPr marL="63500" indent="0">
              <a:buNone/>
            </a:pPr>
            <a:r>
              <a:rPr lang="en-IN" sz="2000" b="1" dirty="0">
                <a:latin typeface="Times New Roman"/>
                <a:ea typeface="+mn-lt"/>
                <a:cs typeface="+mn-lt"/>
              </a:rPr>
              <a:t>6.</a:t>
            </a:r>
            <a:r>
              <a:rPr lang="en-IN" sz="2000" dirty="0">
                <a:latin typeface="Times New Roman"/>
                <a:ea typeface="+mn-lt"/>
                <a:cs typeface="+mn-lt"/>
              </a:rPr>
              <a:t> Database (Optional): SQLite / MySQL (if spam numbers need to be stored) </a:t>
            </a:r>
          </a:p>
          <a:p>
            <a:pPr marL="63500" indent="0">
              <a:buNone/>
            </a:pPr>
            <a:r>
              <a:rPr lang="en-IN" sz="2000" b="1" dirty="0">
                <a:latin typeface="Times New Roman"/>
                <a:ea typeface="+mn-lt"/>
                <a:cs typeface="+mn-lt"/>
              </a:rPr>
              <a:t>7.</a:t>
            </a:r>
            <a:r>
              <a:rPr lang="en-IN" sz="2000" dirty="0">
                <a:latin typeface="Times New Roman"/>
                <a:ea typeface="+mn-lt"/>
                <a:cs typeface="+mn-lt"/>
              </a:rPr>
              <a:t> Required Python Libraries: pip install flask</a:t>
            </a:r>
          </a:p>
          <a:p>
            <a:pPr marL="63500" indent="0">
              <a:buNone/>
            </a:pPr>
            <a:r>
              <a:rPr lang="en-IN" sz="2000" dirty="0">
                <a:latin typeface="Times New Roman"/>
                <a:ea typeface="+mn-lt"/>
                <a:cs typeface="+mn-lt"/>
              </a:rPr>
              <a:t>       (Additional libraries may be required for database and API integration</a:t>
            </a:r>
            <a:r>
              <a:rPr lang="en-IN" sz="1800" dirty="0">
                <a:latin typeface="Times New Roman"/>
                <a:ea typeface="+mn-lt"/>
                <a:cs typeface="+mn-lt"/>
              </a:rPr>
              <a:t>.) </a:t>
            </a:r>
            <a:endParaRPr lang="en-IN" sz="1800" dirty="0">
              <a:latin typeface="Times New Roman"/>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146" y="365125"/>
            <a:ext cx="11071654" cy="1346157"/>
          </a:xfrm>
        </p:spPr>
        <p:txBody>
          <a:bodyPr/>
          <a:lstStyle/>
          <a:p>
            <a:r>
              <a:rPr lang="en-IN" altLang="en-US" dirty="0">
                <a:sym typeface="+mn-ea"/>
              </a:rPr>
              <a:t>HARDWARE REQUIREMENTS</a:t>
            </a:r>
            <a:endParaRPr lang="en-US" dirty="0"/>
          </a:p>
        </p:txBody>
      </p:sp>
      <p:sp>
        <p:nvSpPr>
          <p:cNvPr id="4" name="Content Placeholder 3">
            <a:extLst>
              <a:ext uri="{FF2B5EF4-FFF2-40B4-BE49-F238E27FC236}">
                <a16:creationId xmlns:a16="http://schemas.microsoft.com/office/drawing/2014/main" id="{D7BA8293-09F9-11F4-79E7-AFA97684E93C}"/>
              </a:ext>
            </a:extLst>
          </p:cNvPr>
          <p:cNvSpPr txBox="1">
            <a:spLocks noGrp="1"/>
          </p:cNvSpPr>
          <p:nvPr>
            <p:ph idx="1"/>
          </p:nvPr>
        </p:nvSpPr>
        <p:spPr>
          <a:xfrm>
            <a:off x="405714" y="1691760"/>
            <a:ext cx="7606172" cy="2932085"/>
          </a:xfrm>
          <a:prstGeom prst="rect">
            <a:avLst/>
          </a:prstGeom>
          <a:noFill/>
        </p:spPr>
        <p:txBody>
          <a:bodyPr wrap="square" lIns="91440" tIns="45720" rIns="91440" bIns="45720" rtlCol="0" anchor="t">
            <a:spAutoFit/>
          </a:bodyPr>
          <a:lstStyle/>
          <a:p>
            <a:pPr marL="0" indent="0" algn="just">
              <a:buNone/>
            </a:pPr>
            <a:r>
              <a:rPr lang="en-US" sz="2000" b="1" dirty="0">
                <a:latin typeface="Times New Roman"/>
                <a:cs typeface="Times New Roman"/>
              </a:rPr>
              <a:t>1</a:t>
            </a:r>
            <a:r>
              <a:rPr lang="en-US" sz="2000" dirty="0">
                <a:latin typeface="Times New Roman"/>
                <a:cs typeface="Times New Roman"/>
              </a:rPr>
              <a:t>. </a:t>
            </a:r>
            <a:r>
              <a:rPr lang="en-US" sz="2400" dirty="0">
                <a:latin typeface="Times New Roman"/>
                <a:cs typeface="Times New Roman"/>
              </a:rPr>
              <a:t>Processor: Intel i3 (or higher) / AMD Ryzen 3 (or higher)</a:t>
            </a:r>
          </a:p>
          <a:p>
            <a:pPr marL="0" indent="0" algn="just">
              <a:buNone/>
            </a:pPr>
            <a:r>
              <a:rPr lang="en-US" sz="2400" b="1" dirty="0">
                <a:latin typeface="Times New Roman"/>
                <a:cs typeface="Times New Roman"/>
              </a:rPr>
              <a:t>2</a:t>
            </a:r>
            <a:r>
              <a:rPr lang="en-US" sz="2400" dirty="0">
                <a:latin typeface="Times New Roman"/>
                <a:cs typeface="Times New Roman"/>
              </a:rPr>
              <a:t>.RAM: Minimum 4GB (Recommended: 8GB+ for better performance)</a:t>
            </a:r>
          </a:p>
          <a:p>
            <a:pPr marL="0" indent="0" algn="just">
              <a:buNone/>
            </a:pPr>
            <a:r>
              <a:rPr lang="en-US" sz="2400" b="1" dirty="0">
                <a:latin typeface="Times New Roman"/>
                <a:cs typeface="Times New Roman"/>
              </a:rPr>
              <a:t>3</a:t>
            </a:r>
            <a:r>
              <a:rPr lang="en-US" sz="2400" dirty="0">
                <a:latin typeface="Times New Roman"/>
                <a:cs typeface="Times New Roman"/>
              </a:rPr>
              <a:t>.Storage: At least 10GB free space</a:t>
            </a:r>
          </a:p>
          <a:p>
            <a:pPr marL="0" indent="0" algn="just">
              <a:buNone/>
            </a:pPr>
            <a:r>
              <a:rPr lang="en-US" sz="2400" b="1" dirty="0">
                <a:latin typeface="Times New Roman"/>
                <a:cs typeface="Times New Roman"/>
              </a:rPr>
              <a:t>4</a:t>
            </a:r>
            <a:r>
              <a:rPr lang="en-US" sz="2400" dirty="0">
                <a:latin typeface="Times New Roman"/>
                <a:cs typeface="Times New Roman"/>
              </a:rPr>
              <a:t>.Display: Standard HD Display (1366x768) or higher</a:t>
            </a:r>
          </a:p>
          <a:p>
            <a:pPr marL="0" indent="0" algn="just">
              <a:buNone/>
            </a:pPr>
            <a:r>
              <a:rPr lang="en-US" sz="2400" b="1" dirty="0">
                <a:latin typeface="Times New Roman"/>
                <a:cs typeface="Times New Roman"/>
              </a:rPr>
              <a:t>5</a:t>
            </a:r>
            <a:r>
              <a:rPr lang="en-US" sz="2400" dirty="0">
                <a:latin typeface="Times New Roman"/>
                <a:cs typeface="Times New Roman"/>
              </a:rPr>
              <a:t>.Network:Internet connection (for external API integration, if needed</a:t>
            </a:r>
            <a:r>
              <a:rPr lang="en-US" sz="2000" dirty="0">
                <a:latin typeface="Times New Roman"/>
                <a:cs typeface="Times New Roman"/>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E1C45-811A-7294-FE5C-CC5FCA3F1632}"/>
              </a:ext>
            </a:extLst>
          </p:cNvPr>
          <p:cNvSpPr>
            <a:spLocks noGrp="1"/>
          </p:cNvSpPr>
          <p:nvPr>
            <p:ph type="title"/>
          </p:nvPr>
        </p:nvSpPr>
        <p:spPr/>
        <p:txBody>
          <a:bodyPr/>
          <a:lstStyle/>
          <a:p>
            <a:r>
              <a:rPr lang="en-US" dirty="0"/>
              <a:t>SYSTEM ARCHITECTURE</a:t>
            </a:r>
            <a:endParaRPr lang="en-IN" dirty="0"/>
          </a:p>
        </p:txBody>
      </p:sp>
      <p:pic>
        <p:nvPicPr>
          <p:cNvPr id="15" name="Content Placeholder 14">
            <a:extLst>
              <a:ext uri="{FF2B5EF4-FFF2-40B4-BE49-F238E27FC236}">
                <a16:creationId xmlns:a16="http://schemas.microsoft.com/office/drawing/2014/main" id="{93121070-B018-7CD9-6B1C-986B8ED8BE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4072" y="1324947"/>
            <a:ext cx="7323856" cy="5346441"/>
          </a:xfrm>
        </p:spPr>
      </p:pic>
    </p:spTree>
    <p:extLst>
      <p:ext uri="{BB962C8B-B14F-4D97-AF65-F5344CB8AC3E}">
        <p14:creationId xmlns:p14="http://schemas.microsoft.com/office/powerpoint/2010/main" val="400226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64E37-4B7F-E9CB-DCB6-EB28D70E20D5}"/>
              </a:ext>
            </a:extLst>
          </p:cNvPr>
          <p:cNvSpPr>
            <a:spLocks noGrp="1"/>
          </p:cNvSpPr>
          <p:nvPr>
            <p:ph type="title"/>
          </p:nvPr>
        </p:nvSpPr>
        <p:spPr/>
        <p:txBody>
          <a:bodyPr/>
          <a:lstStyle/>
          <a:p>
            <a:r>
              <a:rPr lang="en-US" dirty="0"/>
              <a:t>MODULES</a:t>
            </a:r>
            <a:endParaRPr lang="en-IN" dirty="0"/>
          </a:p>
        </p:txBody>
      </p:sp>
      <p:sp>
        <p:nvSpPr>
          <p:cNvPr id="3" name="Content Placeholder 2">
            <a:extLst>
              <a:ext uri="{FF2B5EF4-FFF2-40B4-BE49-F238E27FC236}">
                <a16:creationId xmlns:a16="http://schemas.microsoft.com/office/drawing/2014/main" id="{5B472CF1-B76C-831E-C683-DB7CB7C55ACE}"/>
              </a:ext>
            </a:extLst>
          </p:cNvPr>
          <p:cNvSpPr>
            <a:spLocks noGrp="1"/>
          </p:cNvSpPr>
          <p:nvPr>
            <p:ph idx="1"/>
          </p:nvPr>
        </p:nvSpPr>
        <p:spPr>
          <a:xfrm>
            <a:off x="548951" y="1690688"/>
            <a:ext cx="10515600" cy="4320073"/>
          </a:xfrm>
        </p:spPr>
        <p:txBody>
          <a:bodyPr>
            <a:normAutofit fontScale="92500" lnSpcReduction="10000"/>
          </a:bodyPr>
          <a:lstStyle/>
          <a:p>
            <a:r>
              <a:rPr lang="en-US" dirty="0"/>
              <a:t>1.</a:t>
            </a:r>
            <a:r>
              <a:rPr lang="en-US" sz="3500" dirty="0"/>
              <a:t>Input &amp; Collection </a:t>
            </a:r>
            <a:r>
              <a:rPr lang="en-US" dirty="0"/>
              <a:t>– Gathers messages, calls, and metadata from       users or external sources. </a:t>
            </a:r>
          </a:p>
          <a:p>
            <a:r>
              <a:rPr lang="en-US" dirty="0"/>
              <a:t> 2.</a:t>
            </a:r>
            <a:r>
              <a:rPr lang="en-US" sz="3500" dirty="0"/>
              <a:t>Processing &amp; Detection </a:t>
            </a:r>
            <a:r>
              <a:rPr lang="en-US" dirty="0"/>
              <a:t> – Cleans data, applies rules (blacklists, keywords), and uses machine learning to detect spam.  </a:t>
            </a:r>
          </a:p>
          <a:p>
            <a:r>
              <a:rPr lang="en-US" dirty="0"/>
              <a:t>3.</a:t>
            </a:r>
            <a:r>
              <a:rPr lang="en-US" sz="3500" dirty="0"/>
              <a:t>Decision Making </a:t>
            </a:r>
            <a:r>
              <a:rPr lang="en-US" dirty="0"/>
              <a:t> – Assigns a spam score and determines if a message is spam or not. </a:t>
            </a:r>
          </a:p>
          <a:p>
            <a:r>
              <a:rPr lang="en-US" dirty="0"/>
              <a:t> 4.</a:t>
            </a:r>
            <a:r>
              <a:rPr lang="en-US" sz="3500" dirty="0"/>
              <a:t>User Interaction </a:t>
            </a:r>
            <a:r>
              <a:rPr lang="en-US" dirty="0"/>
              <a:t> – Alerts users, blocks spam, and allows feedback to improve detection. </a:t>
            </a:r>
          </a:p>
          <a:p>
            <a:r>
              <a:rPr lang="en-US" dirty="0"/>
              <a:t> 5.</a:t>
            </a:r>
            <a:r>
              <a:rPr lang="en-US" sz="3500" dirty="0"/>
              <a:t>Storage &amp; Integration </a:t>
            </a:r>
            <a:r>
              <a:rPr lang="en-US" dirty="0"/>
              <a:t>– Logs spam data, maintains blacklists, and connects with external services.  </a:t>
            </a:r>
            <a:endParaRPr lang="en-IN" dirty="0"/>
          </a:p>
        </p:txBody>
      </p:sp>
    </p:spTree>
    <p:extLst>
      <p:ext uri="{BB962C8B-B14F-4D97-AF65-F5344CB8AC3E}">
        <p14:creationId xmlns:p14="http://schemas.microsoft.com/office/powerpoint/2010/main" val="3206652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1DFF-DA95-377D-514F-F688E7B9DC3F}"/>
              </a:ext>
            </a:extLst>
          </p:cNvPr>
          <p:cNvSpPr>
            <a:spLocks noGrp="1"/>
          </p:cNvSpPr>
          <p:nvPr>
            <p:ph type="title"/>
          </p:nvPr>
        </p:nvSpPr>
        <p:spPr/>
        <p:txBody>
          <a:bodyPr/>
          <a:lstStyle/>
          <a:p>
            <a:r>
              <a:rPr lang="en-US" dirty="0"/>
              <a:t>DATA FLOW DIAGRAM</a:t>
            </a:r>
            <a:endParaRPr lang="en-IN" dirty="0"/>
          </a:p>
        </p:txBody>
      </p:sp>
      <p:pic>
        <p:nvPicPr>
          <p:cNvPr id="4" name="Content Placeholder 3">
            <a:extLst>
              <a:ext uri="{FF2B5EF4-FFF2-40B4-BE49-F238E27FC236}">
                <a16:creationId xmlns:a16="http://schemas.microsoft.com/office/drawing/2014/main" id="{A2DF8353-F247-C8D9-5565-168069FA97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4823" y="1287624"/>
            <a:ext cx="8892075" cy="5402425"/>
          </a:xfrm>
        </p:spPr>
      </p:pic>
    </p:spTree>
    <p:extLst>
      <p:ext uri="{BB962C8B-B14F-4D97-AF65-F5344CB8AC3E}">
        <p14:creationId xmlns:p14="http://schemas.microsoft.com/office/powerpoint/2010/main" val="985273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ED440-2AC0-1535-492D-12791371D9CF}"/>
              </a:ext>
            </a:extLst>
          </p:cNvPr>
          <p:cNvSpPr>
            <a:spLocks noGrp="1"/>
          </p:cNvSpPr>
          <p:nvPr>
            <p:ph type="title"/>
          </p:nvPr>
        </p:nvSpPr>
        <p:spPr/>
        <p:txBody>
          <a:bodyPr/>
          <a:lstStyle/>
          <a:p>
            <a:r>
              <a:rPr lang="en-US" dirty="0"/>
              <a:t>USECASE DIAGRAM</a:t>
            </a:r>
            <a:endParaRPr lang="en-IN" dirty="0"/>
          </a:p>
        </p:txBody>
      </p:sp>
      <p:pic>
        <p:nvPicPr>
          <p:cNvPr id="5" name="Content Placeholder 4">
            <a:extLst>
              <a:ext uri="{FF2B5EF4-FFF2-40B4-BE49-F238E27FC236}">
                <a16:creationId xmlns:a16="http://schemas.microsoft.com/office/drawing/2014/main" id="{DC54A39F-2CA4-ABCC-4251-60C64906DD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7037" y="1582994"/>
            <a:ext cx="9722498" cy="4739148"/>
          </a:xfrm>
        </p:spPr>
      </p:pic>
    </p:spTree>
    <p:extLst>
      <p:ext uri="{BB962C8B-B14F-4D97-AF65-F5344CB8AC3E}">
        <p14:creationId xmlns:p14="http://schemas.microsoft.com/office/powerpoint/2010/main" val="3880752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63449-C382-3378-4FC7-C03434AE08FB}"/>
              </a:ext>
            </a:extLst>
          </p:cNvPr>
          <p:cNvSpPr>
            <a:spLocks noGrp="1"/>
          </p:cNvSpPr>
          <p:nvPr>
            <p:ph type="title"/>
          </p:nvPr>
        </p:nvSpPr>
        <p:spPr/>
        <p:txBody>
          <a:bodyPr/>
          <a:lstStyle/>
          <a:p>
            <a:r>
              <a:rPr lang="en-US" dirty="0"/>
              <a:t>SEQUENCE DIAGRAM</a:t>
            </a:r>
            <a:endParaRPr lang="en-IN" dirty="0"/>
          </a:p>
        </p:txBody>
      </p:sp>
      <p:pic>
        <p:nvPicPr>
          <p:cNvPr id="5" name="Content Placeholder 4">
            <a:extLst>
              <a:ext uri="{FF2B5EF4-FFF2-40B4-BE49-F238E27FC236}">
                <a16:creationId xmlns:a16="http://schemas.microsoft.com/office/drawing/2014/main" id="{B3EDCA22-F4C4-6DCE-8929-D40A011094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3729" y="1366684"/>
            <a:ext cx="10019072" cy="5126191"/>
          </a:xfrm>
        </p:spPr>
      </p:pic>
    </p:spTree>
    <p:extLst>
      <p:ext uri="{BB962C8B-B14F-4D97-AF65-F5344CB8AC3E}">
        <p14:creationId xmlns:p14="http://schemas.microsoft.com/office/powerpoint/2010/main" val="62097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1D163-D40D-2A76-6034-3A9D9715D519}"/>
              </a:ext>
            </a:extLst>
          </p:cNvPr>
          <p:cNvSpPr>
            <a:spLocks noGrp="1"/>
          </p:cNvSpPr>
          <p:nvPr>
            <p:ph type="title"/>
          </p:nvPr>
        </p:nvSpPr>
        <p:spPr/>
        <p:txBody>
          <a:bodyPr/>
          <a:lstStyle/>
          <a:p>
            <a:r>
              <a:rPr lang="en-US" dirty="0"/>
              <a:t>CLASS DIAGRAM</a:t>
            </a:r>
            <a:endParaRPr lang="en-IN" dirty="0"/>
          </a:p>
        </p:txBody>
      </p:sp>
      <p:pic>
        <p:nvPicPr>
          <p:cNvPr id="5" name="Content Placeholder 4">
            <a:extLst>
              <a:ext uri="{FF2B5EF4-FFF2-40B4-BE49-F238E27FC236}">
                <a16:creationId xmlns:a16="http://schemas.microsoft.com/office/drawing/2014/main" id="{CCBEA30D-08E1-1722-7FAF-D25C801867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0142" y="1327355"/>
            <a:ext cx="7629832" cy="5329084"/>
          </a:xfrm>
        </p:spPr>
      </p:pic>
    </p:spTree>
    <p:extLst>
      <p:ext uri="{BB962C8B-B14F-4D97-AF65-F5344CB8AC3E}">
        <p14:creationId xmlns:p14="http://schemas.microsoft.com/office/powerpoint/2010/main" val="1003925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CB4AF-01B9-6B96-76E5-05C9A974D7AF}"/>
              </a:ext>
            </a:extLst>
          </p:cNvPr>
          <p:cNvSpPr>
            <a:spLocks noGrp="1"/>
          </p:cNvSpPr>
          <p:nvPr>
            <p:ph type="title"/>
          </p:nvPr>
        </p:nvSpPr>
        <p:spPr/>
        <p:txBody>
          <a:bodyPr/>
          <a:lstStyle/>
          <a:p>
            <a:r>
              <a:rPr lang="en-US" dirty="0"/>
              <a:t>STATE CHART DIAGRAM</a:t>
            </a:r>
            <a:endParaRPr lang="en-IN" dirty="0"/>
          </a:p>
        </p:txBody>
      </p:sp>
      <p:pic>
        <p:nvPicPr>
          <p:cNvPr id="9" name="Content Placeholder 8">
            <a:extLst>
              <a:ext uri="{FF2B5EF4-FFF2-40B4-BE49-F238E27FC236}">
                <a16:creationId xmlns:a16="http://schemas.microsoft.com/office/drawing/2014/main" id="{2F1A0710-7E5B-0595-0336-B07802AC6B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27380" y="1343608"/>
            <a:ext cx="7436498" cy="5514392"/>
          </a:xfrm>
        </p:spPr>
      </p:pic>
    </p:spTree>
    <p:extLst>
      <p:ext uri="{BB962C8B-B14F-4D97-AF65-F5344CB8AC3E}">
        <p14:creationId xmlns:p14="http://schemas.microsoft.com/office/powerpoint/2010/main" val="1059883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1DC79-3702-F630-138B-4E93904D2D36}"/>
              </a:ext>
            </a:extLst>
          </p:cNvPr>
          <p:cNvSpPr>
            <a:spLocks noGrp="1"/>
          </p:cNvSpPr>
          <p:nvPr>
            <p:ph type="title"/>
          </p:nvPr>
        </p:nvSpPr>
        <p:spPr/>
        <p:txBody>
          <a:bodyPr/>
          <a:lstStyle/>
          <a:p>
            <a:r>
              <a:rPr lang="en-US" dirty="0"/>
              <a:t>ACTIVITY DIAGRAM</a:t>
            </a:r>
            <a:endParaRPr lang="en-IN" dirty="0"/>
          </a:p>
        </p:txBody>
      </p:sp>
      <p:pic>
        <p:nvPicPr>
          <p:cNvPr id="9" name="Content Placeholder 8">
            <a:extLst>
              <a:ext uri="{FF2B5EF4-FFF2-40B4-BE49-F238E27FC236}">
                <a16:creationId xmlns:a16="http://schemas.microsoft.com/office/drawing/2014/main" id="{C1AEFBAE-3F07-819F-C2D6-89DAC95E80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63078" y="1212980"/>
            <a:ext cx="6176865" cy="5579706"/>
          </a:xfrm>
        </p:spPr>
      </p:pic>
    </p:spTree>
    <p:extLst>
      <p:ext uri="{BB962C8B-B14F-4D97-AF65-F5344CB8AC3E}">
        <p14:creationId xmlns:p14="http://schemas.microsoft.com/office/powerpoint/2010/main" val="1784021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C283B-96B0-BF94-E8FB-C63EF4D1F642}"/>
              </a:ext>
            </a:extLst>
          </p:cNvPr>
          <p:cNvSpPr>
            <a:spLocks noGrp="1"/>
          </p:cNvSpPr>
          <p:nvPr>
            <p:ph type="title"/>
          </p:nvPr>
        </p:nvSpPr>
        <p:spPr/>
        <p:txBody>
          <a:bodyPr/>
          <a:lstStyle/>
          <a:p>
            <a:r>
              <a:rPr lang="en-US" dirty="0"/>
              <a:t>COLLABORATION DIAGRAM</a:t>
            </a:r>
            <a:endParaRPr lang="en-IN" dirty="0"/>
          </a:p>
        </p:txBody>
      </p:sp>
      <p:pic>
        <p:nvPicPr>
          <p:cNvPr id="4" name="Picture 3">
            <a:extLst>
              <a:ext uri="{FF2B5EF4-FFF2-40B4-BE49-F238E27FC236}">
                <a16:creationId xmlns:a16="http://schemas.microsoft.com/office/drawing/2014/main" id="{947F5E6B-4301-A4DF-E3C8-2174C4C83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0287" y="1534821"/>
            <a:ext cx="7591425" cy="4958054"/>
          </a:xfrm>
          <a:prstGeom prst="rect">
            <a:avLst/>
          </a:prstGeom>
        </p:spPr>
      </p:pic>
    </p:spTree>
    <p:extLst>
      <p:ext uri="{BB962C8B-B14F-4D97-AF65-F5344CB8AC3E}">
        <p14:creationId xmlns:p14="http://schemas.microsoft.com/office/powerpoint/2010/main" val="3036613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E0148-428D-970C-FF26-3E1EC5040A8E}"/>
              </a:ext>
            </a:extLst>
          </p:cNvPr>
          <p:cNvSpPr>
            <a:spLocks noGrp="1"/>
          </p:cNvSpPr>
          <p:nvPr>
            <p:ph type="title"/>
          </p:nvPr>
        </p:nvSpPr>
        <p:spPr/>
        <p:txBody>
          <a:bodyPr/>
          <a:lstStyle/>
          <a:p>
            <a:r>
              <a:rPr lang="en-US" dirty="0"/>
              <a:t>OUTPUT</a:t>
            </a:r>
            <a:endParaRPr lang="en-IN" dirty="0"/>
          </a:p>
        </p:txBody>
      </p:sp>
      <p:pic>
        <p:nvPicPr>
          <p:cNvPr id="4" name="Picture 3">
            <a:extLst>
              <a:ext uri="{FF2B5EF4-FFF2-40B4-BE49-F238E27FC236}">
                <a16:creationId xmlns:a16="http://schemas.microsoft.com/office/drawing/2014/main" id="{905667CE-983B-94F5-DC1E-C95A2D79D8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143" y="1866122"/>
            <a:ext cx="4002832" cy="3760237"/>
          </a:xfrm>
          <a:prstGeom prst="rect">
            <a:avLst/>
          </a:prstGeom>
        </p:spPr>
      </p:pic>
      <p:pic>
        <p:nvPicPr>
          <p:cNvPr id="6" name="Picture 5">
            <a:extLst>
              <a:ext uri="{FF2B5EF4-FFF2-40B4-BE49-F238E27FC236}">
                <a16:creationId xmlns:a16="http://schemas.microsoft.com/office/drawing/2014/main" id="{100002F6-75B7-4A31-76BF-719833903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4147" y="1866122"/>
            <a:ext cx="4077478" cy="3760237"/>
          </a:xfrm>
          <a:prstGeom prst="rect">
            <a:avLst/>
          </a:prstGeom>
        </p:spPr>
      </p:pic>
    </p:spTree>
    <p:extLst>
      <p:ext uri="{BB962C8B-B14F-4D97-AF65-F5344CB8AC3E}">
        <p14:creationId xmlns:p14="http://schemas.microsoft.com/office/powerpoint/2010/main" val="3336696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9A9FE-88CE-D683-8691-53B778A81BFB}"/>
              </a:ext>
            </a:extLst>
          </p:cNvPr>
          <p:cNvSpPr>
            <a:spLocks noGrp="1"/>
          </p:cNvSpPr>
          <p:nvPr>
            <p:ph type="title"/>
          </p:nvPr>
        </p:nvSpPr>
        <p:spPr>
          <a:xfrm flipV="1">
            <a:off x="6096000" y="1690688"/>
            <a:ext cx="4447592" cy="3953100"/>
          </a:xfrm>
        </p:spPr>
        <p:txBody>
          <a:bodyPr/>
          <a:lstStyle/>
          <a:p>
            <a:endParaRPr lang="en-IN" dirty="0"/>
          </a:p>
        </p:txBody>
      </p:sp>
      <p:pic>
        <p:nvPicPr>
          <p:cNvPr id="4" name="Picture 3">
            <a:extLst>
              <a:ext uri="{FF2B5EF4-FFF2-40B4-BE49-F238E27FC236}">
                <a16:creationId xmlns:a16="http://schemas.microsoft.com/office/drawing/2014/main" id="{8C99532D-7998-41B0-4193-17F6D79C0B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58212"/>
            <a:ext cx="3965510" cy="4085577"/>
          </a:xfrm>
          <a:prstGeom prst="rect">
            <a:avLst/>
          </a:prstGeom>
        </p:spPr>
      </p:pic>
      <p:pic>
        <p:nvPicPr>
          <p:cNvPr id="6" name="Picture 5">
            <a:extLst>
              <a:ext uri="{FF2B5EF4-FFF2-40B4-BE49-F238E27FC236}">
                <a16:creationId xmlns:a16="http://schemas.microsoft.com/office/drawing/2014/main" id="{FCA9D4E5-73F8-1383-26EA-D0DA530DCD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0254" y="1558211"/>
            <a:ext cx="4553338" cy="4085577"/>
          </a:xfrm>
          <a:prstGeom prst="rect">
            <a:avLst/>
          </a:prstGeom>
        </p:spPr>
      </p:pic>
    </p:spTree>
    <p:extLst>
      <p:ext uri="{BB962C8B-B14F-4D97-AF65-F5344CB8AC3E}">
        <p14:creationId xmlns:p14="http://schemas.microsoft.com/office/powerpoint/2010/main" val="831825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183FD-D3C9-C437-B2DE-87AF13A2CD43}"/>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574E944C-E248-FDB9-DA70-CF3302B711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5005" y="1690688"/>
            <a:ext cx="4413380" cy="4430194"/>
          </a:xfrm>
          <a:prstGeom prst="rect">
            <a:avLst/>
          </a:prstGeom>
        </p:spPr>
      </p:pic>
    </p:spTree>
    <p:extLst>
      <p:ext uri="{BB962C8B-B14F-4D97-AF65-F5344CB8AC3E}">
        <p14:creationId xmlns:p14="http://schemas.microsoft.com/office/powerpoint/2010/main" val="236615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256EE-30FC-310F-B7FE-E0E1C1FFA17D}"/>
              </a:ext>
            </a:extLst>
          </p:cNvPr>
          <p:cNvSpPr>
            <a:spLocks noGrp="1"/>
          </p:cNvSpPr>
          <p:nvPr>
            <p:ph type="title"/>
          </p:nvPr>
        </p:nvSpPr>
        <p:spPr>
          <a:xfrm>
            <a:off x="716902" y="281150"/>
            <a:ext cx="10515600" cy="1325563"/>
          </a:xfrm>
        </p:spPr>
        <p:txBody>
          <a:bodyPr/>
          <a:lstStyle/>
          <a:p>
            <a:r>
              <a:rPr lang="en-US" dirty="0"/>
              <a:t>CONCLUSION</a:t>
            </a:r>
            <a:endParaRPr lang="en-IN" dirty="0"/>
          </a:p>
        </p:txBody>
      </p:sp>
      <p:sp>
        <p:nvSpPr>
          <p:cNvPr id="4" name="TextBox 3">
            <a:extLst>
              <a:ext uri="{FF2B5EF4-FFF2-40B4-BE49-F238E27FC236}">
                <a16:creationId xmlns:a16="http://schemas.microsoft.com/office/drawing/2014/main" id="{7748AA1A-FA32-6C24-3566-C20A35A0236B}"/>
              </a:ext>
            </a:extLst>
          </p:cNvPr>
          <p:cNvSpPr txBox="1"/>
          <p:nvPr/>
        </p:nvSpPr>
        <p:spPr>
          <a:xfrm>
            <a:off x="783772" y="1964130"/>
            <a:ext cx="9834465" cy="3782061"/>
          </a:xfrm>
          <a:prstGeom prst="rect">
            <a:avLst/>
          </a:prstGeom>
          <a:noFill/>
        </p:spPr>
        <p:txBody>
          <a:bodyPr wrap="square">
            <a:spAutoFit/>
          </a:bodyPr>
          <a:lstStyle/>
          <a:p>
            <a:pPr algn="just">
              <a:lnSpc>
                <a:spcPct val="150000"/>
              </a:lnSpc>
              <a:buNone/>
            </a:pPr>
            <a:r>
              <a:rPr lang="en-IN" sz="1800" dirty="0">
                <a:effectLst/>
                <a:latin typeface="Times New Roman" panose="02020603050405020304" pitchFamily="18" charset="0"/>
                <a:ea typeface="Times New Roman" panose="02020603050405020304" pitchFamily="18" charset="0"/>
              </a:rPr>
              <a:t>Spam calls have become a significant issue in the modern era of mobile communication, posing threats to user privacy, security, and productivity. Traditional rule-based or manual filtering techniques have proven inadequate in handling the volume and evolving nature of spam calls. To overcome these limitations, our project demonstrates how </a:t>
            </a:r>
            <a:r>
              <a:rPr lang="en-IN" sz="1800" b="1" dirty="0">
                <a:effectLst/>
                <a:latin typeface="Times New Roman" panose="02020603050405020304" pitchFamily="18" charset="0"/>
                <a:ea typeface="Times New Roman" panose="02020603050405020304" pitchFamily="18" charset="0"/>
              </a:rPr>
              <a:t>Machine Learning (ML)</a:t>
            </a:r>
            <a:r>
              <a:rPr lang="en-IN" sz="1800" dirty="0">
                <a:effectLst/>
                <a:latin typeface="Times New Roman" panose="02020603050405020304" pitchFamily="18" charset="0"/>
                <a:ea typeface="Times New Roman" panose="02020603050405020304" pitchFamily="18" charset="0"/>
              </a:rPr>
              <a:t> can be effectively utilized to build an intelligent, adaptive system for spam call detection.</a:t>
            </a:r>
            <a:endParaRPr lang="en-IN" sz="1600" dirty="0">
              <a:effectLst/>
              <a:latin typeface="Times New Roman" panose="02020603050405020304" pitchFamily="18" charset="0"/>
              <a:ea typeface="Times New Roman" panose="02020603050405020304" pitchFamily="18" charset="0"/>
            </a:endParaRPr>
          </a:p>
          <a:p>
            <a:pPr algn="just">
              <a:lnSpc>
                <a:spcPct val="150000"/>
              </a:lnSpc>
            </a:pPr>
            <a:r>
              <a:rPr lang="en-IN" sz="1800" dirty="0">
                <a:effectLst/>
                <a:latin typeface="Times New Roman" panose="02020603050405020304" pitchFamily="18" charset="0"/>
                <a:ea typeface="Times New Roman" panose="02020603050405020304" pitchFamily="18" charset="0"/>
              </a:rPr>
              <a:t>By </a:t>
            </a:r>
            <a:r>
              <a:rPr lang="en-IN" sz="1800" dirty="0" err="1">
                <a:effectLst/>
                <a:latin typeface="Times New Roman" panose="02020603050405020304" pitchFamily="18" charset="0"/>
                <a:ea typeface="Times New Roman" panose="02020603050405020304" pitchFamily="18" charset="0"/>
              </a:rPr>
              <a:t>analyzing</a:t>
            </a:r>
            <a:r>
              <a:rPr lang="en-IN" sz="1800" dirty="0">
                <a:effectLst/>
                <a:latin typeface="Times New Roman" panose="02020603050405020304" pitchFamily="18" charset="0"/>
                <a:ea typeface="Times New Roman" panose="02020603050405020304" pitchFamily="18" charset="0"/>
              </a:rPr>
              <a:t> historical call patterns and extracting meaningful features, we trained and evaluated classification models capable of accurately distinguishing between spam and legitimate calls. Our approach not only automates the detection process but also offers the flexibility to learn and adapt from new data, making it robust against evolving spam strategies.</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87101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743A7C7-0F46-527F-D00F-A904C963E388}"/>
              </a:ext>
            </a:extLst>
          </p:cNvPr>
          <p:cNvSpPr txBox="1"/>
          <p:nvPr/>
        </p:nvSpPr>
        <p:spPr>
          <a:xfrm>
            <a:off x="3048000" y="3059277"/>
            <a:ext cx="6096000" cy="1200329"/>
          </a:xfrm>
          <a:prstGeom prst="rect">
            <a:avLst/>
          </a:prstGeom>
          <a:noFill/>
        </p:spPr>
        <p:txBody>
          <a:bodyPr wrap="square">
            <a:spAutoFit/>
          </a:bodyPr>
          <a:lstStyle/>
          <a:p>
            <a:r>
              <a:rPr lang="en-IN" sz="720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97333312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238</TotalTime>
  <Words>1308</Words>
  <Application>Microsoft Office PowerPoint</Application>
  <PresentationFormat>Widescreen</PresentationFormat>
  <Paragraphs>146</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 AI-Driven Spam Call Detection for Enhanced Security</vt:lpstr>
      <vt:lpstr>         DEPARTMENT OF AI&amp;DS  AI-Driven Spam Call Detection for Enhanced Security De</vt:lpstr>
      <vt:lpstr>ABSTRACT </vt:lpstr>
      <vt:lpstr>INTRODUCTION:</vt:lpstr>
      <vt:lpstr>LITERATURE TABLE:</vt:lpstr>
      <vt:lpstr>EXISTING SYSTEM</vt:lpstr>
      <vt:lpstr>PROPOSED SYSTEM</vt:lpstr>
      <vt:lpstr> Advantages of the Proposed System</vt:lpstr>
      <vt:lpstr>SOFTWARE REQUIREMENTS</vt:lpstr>
      <vt:lpstr>HARDWARE REQUIREMENTS</vt:lpstr>
      <vt:lpstr>SYSTEM ARCHITECTURE</vt:lpstr>
      <vt:lpstr>MODULES</vt:lpstr>
      <vt:lpstr>DATA FLOW DIAGRAM</vt:lpstr>
      <vt:lpstr>USECASE DIAGRAM</vt:lpstr>
      <vt:lpstr>SEQUENCE DIAGRAM</vt:lpstr>
      <vt:lpstr>CLASS DIAGRAM</vt:lpstr>
      <vt:lpstr>STATE CHART DIAGRAM</vt:lpstr>
      <vt:lpstr>ACTIVITY DIAGRAM</vt:lpstr>
      <vt:lpstr>COLLABORATION DIAGRAM</vt:lpstr>
      <vt:lpstr>OUTPUT</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IMAGE GENERATOR (Web application)</dc:title>
  <dc:creator>vmtw</dc:creator>
  <cp:lastModifiedBy>Nikhitha Reddy</cp:lastModifiedBy>
  <cp:revision>12</cp:revision>
  <dcterms:created xsi:type="dcterms:W3CDTF">2024-10-16T08:53:00Z</dcterms:created>
  <dcterms:modified xsi:type="dcterms:W3CDTF">2025-06-20T01:06:23Z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E9EC90A5DB3242378B64D5B2E72AC49D_11</vt:lpwstr>
  </property>
  <property fmtid="{D5CDD505-2E9C-101B-9397-08002B2CF9AE}" pid="3" name="KSOProductBuildVer">
    <vt:lpwstr>1033-12.2.0.18586</vt:lpwstr>
  </property>
</Properties>
</file>